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a64be00bff42e0" /><Relationship Type="http://schemas.openxmlformats.org/officeDocument/2006/relationships/extended-properties" Target="/docProps/app.xml" Id="R7bbb6e1ec9a64c1d" /><Relationship Type="http://schemas.openxmlformats.org/officeDocument/2006/relationships/officeDocument" Target="/ppt/presentation.xml" Id="Re4a61b0beefd41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d9dd3c34804e74"/>
  </p:sldMasterIdLst>
  <p:notesMasterIdLst>
    <p:notesMasterId xmlns:r="http://schemas.openxmlformats.org/officeDocument/2006/relationships" r:id="Rb264ea74bc934e95"/>
  </p:notesMasterIdLst>
  <p:sldIdLst>
    <p:sldId xmlns:r="http://schemas.openxmlformats.org/officeDocument/2006/relationships" id="256" r:id="R0577401f0f6e4368"/>
    <p:sldId xmlns:r="http://schemas.openxmlformats.org/officeDocument/2006/relationships" id="257" r:id="R57684fc51fc4434c"/>
    <p:sldId xmlns:r="http://schemas.openxmlformats.org/officeDocument/2006/relationships" id="258" r:id="R178dffcf04b94fe0"/>
    <p:sldId xmlns:r="http://schemas.openxmlformats.org/officeDocument/2006/relationships" id="259" r:id="Raffa59833a3c45a7"/>
    <p:sldId xmlns:r="http://schemas.openxmlformats.org/officeDocument/2006/relationships" id="260" r:id="R5fb0fa27a12b4771"/>
    <p:sldId xmlns:r="http://schemas.openxmlformats.org/officeDocument/2006/relationships" id="261" r:id="Rc55dba3e2204436b"/>
    <p:sldId xmlns:r="http://schemas.openxmlformats.org/officeDocument/2006/relationships" id="262" r:id="Rf7c010ed3c8141a8"/>
    <p:sldId xmlns:r="http://schemas.openxmlformats.org/officeDocument/2006/relationships" id="263" r:id="Rfe6f8aa9773d46a6"/>
    <p:sldId xmlns:r="http://schemas.openxmlformats.org/officeDocument/2006/relationships" id="264" r:id="R6695dbca32bd4afe"/>
    <p:sldId xmlns:r="http://schemas.openxmlformats.org/officeDocument/2006/relationships" id="265" r:id="R50e9d941cc7c45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f577fbc025429a" /><Relationship Type="http://schemas.openxmlformats.org/officeDocument/2006/relationships/slideMaster" Target="/ppt/slideMasters/slideMaster1.xml" Id="Refd9dd3c34804e74" /><Relationship Type="http://schemas.openxmlformats.org/officeDocument/2006/relationships/notesMaster" Target="/ppt/notesMasters/notesMaster1.xml" Id="Rb264ea74bc934e95" /><Relationship Type="http://schemas.openxmlformats.org/officeDocument/2006/relationships/presProps" Target="/ppt/presProps.xml" Id="Rd1a274ab06184d5d" /><Relationship Type="http://schemas.openxmlformats.org/officeDocument/2006/relationships/viewProps" Target="/ppt/viewProps.xml" Id="Rd83e1677c0494eb9" /><Relationship Type="http://schemas.openxmlformats.org/officeDocument/2006/relationships/tableStyles" Target="/ppt/tableStyles.xml" Id="Rd99e31f8578647d2" /><Relationship Type="http://schemas.openxmlformats.org/officeDocument/2006/relationships/slide" Target="/ppt/slides/slide1.xml" Id="R0577401f0f6e4368" /><Relationship Type="http://schemas.openxmlformats.org/officeDocument/2006/relationships/slide" Target="/ppt/slides/slide2.xml" Id="R57684fc51fc4434c" /><Relationship Type="http://schemas.openxmlformats.org/officeDocument/2006/relationships/slide" Target="/ppt/slides/slide3.xml" Id="R178dffcf04b94fe0" /><Relationship Type="http://schemas.openxmlformats.org/officeDocument/2006/relationships/slide" Target="/ppt/slides/slide4.xml" Id="Raffa59833a3c45a7" /><Relationship Type="http://schemas.openxmlformats.org/officeDocument/2006/relationships/slide" Target="/ppt/slides/slide5.xml" Id="R5fb0fa27a12b4771" /><Relationship Type="http://schemas.openxmlformats.org/officeDocument/2006/relationships/slide" Target="/ppt/slides/slide6.xml" Id="Rc55dba3e2204436b" /><Relationship Type="http://schemas.openxmlformats.org/officeDocument/2006/relationships/slide" Target="/ppt/slides/slide7.xml" Id="Rf7c010ed3c8141a8" /><Relationship Type="http://schemas.openxmlformats.org/officeDocument/2006/relationships/slide" Target="/ppt/slides/slide8.xml" Id="Rfe6f8aa9773d46a6" /><Relationship Type="http://schemas.openxmlformats.org/officeDocument/2006/relationships/slide" Target="/ppt/slides/slide9.xml" Id="R6695dbca32bd4afe" /><Relationship Type="http://schemas.openxmlformats.org/officeDocument/2006/relationships/slide" Target="/ppt/slides/slide10.xml" Id="R50e9d941cc7c45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403410b95a4b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ab41bcae0043bd" /><Relationship Type="http://schemas.openxmlformats.org/officeDocument/2006/relationships/notesMaster" Target="/ppt/notesMasters/notesMaster1.xml" Id="R703bfe2932634d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e70bcebb134740" /><Relationship Type="http://schemas.openxmlformats.org/officeDocument/2006/relationships/notesMaster" Target="/ppt/notesMasters/notesMaster1.xml" Id="Ra0f2d509b85740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e7c3ed61914afd" /><Relationship Type="http://schemas.openxmlformats.org/officeDocument/2006/relationships/notesMaster" Target="/ppt/notesMasters/notesMaster1.xml" Id="Rcd0878275b6849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aa68144e954137" /><Relationship Type="http://schemas.openxmlformats.org/officeDocument/2006/relationships/notesMaster" Target="/ppt/notesMasters/notesMaster1.xml" Id="Red97b72a69e248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310f926d4e4ee5" /><Relationship Type="http://schemas.openxmlformats.org/officeDocument/2006/relationships/notesMaster" Target="/ppt/notesMasters/notesMaster1.xml" Id="R4dd8742df09947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adba5e0e484462" /><Relationship Type="http://schemas.openxmlformats.org/officeDocument/2006/relationships/notesMaster" Target="/ppt/notesMasters/notesMaster1.xml" Id="R796dd767c5624d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6c03c2fa4342e6" /><Relationship Type="http://schemas.openxmlformats.org/officeDocument/2006/relationships/notesMaster" Target="/ppt/notesMasters/notesMaster1.xml" Id="R0493f39995c149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54925315a544e2" /><Relationship Type="http://schemas.openxmlformats.org/officeDocument/2006/relationships/notesMaster" Target="/ppt/notesMasters/notesMaster1.xml" Id="Ra82bb7bc7d2f46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aa6db15bc74585" /><Relationship Type="http://schemas.openxmlformats.org/officeDocument/2006/relationships/notesMaster" Target="/ppt/notesMasters/notesMaster1.xml" Id="R3dd0df7ad7a74f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73e97609604883" /><Relationship Type="http://schemas.openxmlformats.org/officeDocument/2006/relationships/notesMaster" Target="/ppt/notesMasters/notesMaster1.xml" Id="Rd62bc89ee2c344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本页为汇报封面。课程依据：深度学习框架-16 综合项目III.pdf 第 4 次课主题为分布式计算、GPU 编程实现以及 CUDA Nsight 工具。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来源：深度学习框架-16 综合项目III.pdf 第 7-9 页；深度学习框架-18 分布式训练-概念与参数服务器架构.pdf 第 2-4 页；深度学习框架-18-2 分布式训练II-Ring AllReduce与评测.pdf 第 2-4 页。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来源：深度学习框架-18.pdf 第 20-23、32-39 页；深度学习框架-18-2.pdf 第 7-9、23-25 页。实现中的 PS/Ring 对照统一采用 gRPC/protobuf。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来源：深度学习框架-18-2.pdf 第 8-9、19-22 页；通信公式按报告中实际 FP32 梯度字节量口径记录。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来源：深度学习框架-16 综合项目III.pdf 第 9 页；项目第一阶段 README.md 第 2、4、5 节；native_cublas_report.md。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来源：深度学习框架-18.pdf 第 2-4、29-30、64-67 页；优化版报告“固定配置与测量口径”和“ResNet18 配置与 BN 控制”章节。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来源：深度学习框架-18.pdf 第 39、64-67 页；优化版 comparison.csv。正文 MB 为 request_bytes + response_bytes，未计 HTTP/2、TCP/IP 头。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来源：深度学习框架-18-2.pdf 第 4、8-9、19-22、39-41 页；优化版 comparison.csv 与 ring_chunk_flow.json。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来源：优化版 optimization_comparison.csv / delivery_summary.json。下降率按 (基线 epoch - 优化版 epoch) / 基线 epoch 计算。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结论依据：优化版 delivery_summary.json、README.md 的验收边界与限制章节。ResNet 逐步梯度等价失败保留为独立限制，归约与 CPU/GPU 更新检查分别通过。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556090a567409a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5629bd26c24904" /><Relationship Type="http://schemas.openxmlformats.org/officeDocument/2006/relationships/slideLayout" Target="/ppt/slideLayouts/slideLayout1.xml" Id="R68d39190de2c46e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d39190de2c46eb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d060acf084351" /><Relationship Type="http://schemas.openxmlformats.org/officeDocument/2006/relationships/notesSlide" Target="/ppt/notesSlides/notesSlide1.xml" Id="R4b280d373a584c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718f90072042f4" /><Relationship Type="http://schemas.openxmlformats.org/officeDocument/2006/relationships/notesSlide" Target="/ppt/notesSlides/notesSlide2.xml" Id="R24590cb2e68d43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33878315eb44aa" /><Relationship Type="http://schemas.openxmlformats.org/officeDocument/2006/relationships/notesSlide" Target="/ppt/notesSlides/notesSlide3.xml" Id="R5482e6c9a51d4f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0093d95ad46e9" /><Relationship Type="http://schemas.openxmlformats.org/officeDocument/2006/relationships/notesSlide" Target="/ppt/notesSlides/notesSlide4.xml" Id="R007a1cb6109340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a4fcb8ebee4262" /><Relationship Type="http://schemas.openxmlformats.org/officeDocument/2006/relationships/notesSlide" Target="/ppt/notesSlides/notesSlide5.xml" Id="R08f4b44870e24a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6565925c884359" /><Relationship Type="http://schemas.openxmlformats.org/officeDocument/2006/relationships/notesSlide" Target="/ppt/notesSlides/notesSlide6.xml" Id="R87e516740f1743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4309c3ffe0421f" /><Relationship Type="http://schemas.openxmlformats.org/officeDocument/2006/relationships/notesSlide" Target="/ppt/notesSlides/notesSlide7.xml" Id="R499f07bb12f84d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605f7ac4c4767" /><Relationship Type="http://schemas.openxmlformats.org/officeDocument/2006/relationships/chart" Target="/ppt/slides/charts/chart1.xml" Id="Rfdcd2f30fa584353" /><Relationship Type="http://schemas.openxmlformats.org/officeDocument/2006/relationships/notesSlide" Target="/ppt/notesSlides/notesSlide8.xml" Id="Ra964d35f851249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8e78859564163" /><Relationship Type="http://schemas.openxmlformats.org/officeDocument/2006/relationships/chart" Target="/ppt/slides/charts/chart2.xml" Id="R85ec0764459f45d2" /><Relationship Type="http://schemas.openxmlformats.org/officeDocument/2006/relationships/notesSlide" Target="/ppt/notesSlides/notesSlide9.xml" Id="Rb2fd25e6fee341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7cff7538854ce3" /><Relationship Type="http://schemas.openxmlformats.org/officeDocument/2006/relationships/notesSlide" Target="/ppt/notesSlides/notesSlide10.xml" Id="R6597f2eda7874630" /></Relationships>
</file>

<file path=ppt/slides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../embeddings/Microsoft_Excel_Worksheet1.xlsx"/></Relationships>
</file>

<file path=ppt/slides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../embeddings/Microsoft_Excel_Worksheet2.xlsx"/></Relationships>
</file>

<file path=ppt/slides/charts/chart1.xml><?xml version="1.0" encoding="utf-8"?>
<c:chartSpace xmlns:c="http://schemas.openxmlformats.org/drawingml/2006/chart">
  <c:lang val="en-US"/>
  <c:roundedCorners val="1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00" b="0" i="0" u="none">
                <a:solidFill>
                  <a:srgbClr val="000000"/>
                </a:solidFill>
                <a:latin typeface="Microsoft YaHei UI"/>
                <a:ea typeface="Microsoft YaHei UI"/>
                <a:cs typeface="Microsoft YaHei UI"/>
              </a:rPr>
              <a:t>实测加速比与理想线性参考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00" b="0" i="0" u="none">
              <a:solidFill>
                <a:srgbClr val="000000"/>
              </a:solidFill>
              <a:latin typeface="Microsoft YaHei UI"/>
              <a:ea typeface="Microsoft YaHei UI"/>
              <a:cs typeface="Microsoft YaHei UI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理想线性</c:v>
                </c:pt>
              </c:strCache>
            </c:strRef>
          </c:tx>
          <c:spPr>
            <a:solidFill xmlns:a="http://schemas.openxmlformats.org/drawingml/2006/main">
              <a:srgbClr val="9AA5B1"/>
            </a:solidFill>
            <a:ln xmlns:a="http://schemas.openxmlformats.org/drawingml/2006/main" w="27940">
              <a:solidFill>
                <a:srgbClr val="9AA5B1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9AA5B1"/>
              </a:solidFill>
              <a:ln xmlns:a="http://schemas.openxmlformats.org/drawingml/2006/main" w="9525">
                <a:solidFill>
                  <a:srgbClr val="9AA5B1"/>
                </a:solidFill>
                <a:prstDash val="solid"/>
              </a:ln>
            </c:spPr>
          </c:marker>
          <c:dLbls>
            <c:numFmt formatCode="#,##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0" i="0" u="none">
                    <a:solidFill>
                      <a:srgbClr val="000000"/>
                    </a:solidFill>
                    <a:latin typeface="Microsoft YaHei UI"/>
                    <a:ea typeface="Microsoft YaHei UI"/>
                    <a:cs typeface="Microsoft YaHei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1</c:v>
                </c:pt>
                <c:pt idx="1">
                  <c:v>2</c:v>
                </c:pt>
                <c:pt idx="2">
                  <c:v>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MNIST Ring</c:v>
                </c:pt>
              </c:strCache>
            </c:strRef>
          </c:tx>
          <c:spPr>
            <a:solidFill xmlns:a="http://schemas.openxmlformats.org/drawingml/2006/main">
              <a:srgbClr val="0E9F9A"/>
            </a:solidFill>
            <a:ln xmlns:a="http://schemas.openxmlformats.org/drawingml/2006/main" w="27940">
              <a:solidFill>
                <a:srgbClr val="0E9F9A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0E9F9A"/>
              </a:solidFill>
              <a:ln xmlns:a="http://schemas.openxmlformats.org/drawingml/2006/main" w="9525">
                <a:solidFill>
                  <a:srgbClr val="0E9F9A"/>
                </a:solidFill>
                <a:prstDash val="solid"/>
              </a:ln>
            </c:spPr>
          </c:marker>
          <c:dLbls>
            <c:numFmt formatCode="#,##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0" i="0" u="none">
                    <a:solidFill>
                      <a:srgbClr val="000000"/>
                    </a:solidFill>
                    <a:latin typeface="Microsoft YaHei UI"/>
                    <a:ea typeface="Microsoft YaHei UI"/>
                    <a:cs typeface="Microsoft YaHei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1</c:v>
                </c:pt>
                <c:pt idx="1">
                  <c:v>2</c:v>
                </c:pt>
                <c:pt idx="2">
                  <c:v>4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0.411</c:v>
                </c:pt>
                <c:pt idx="2">
                  <c:v>0.244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ResNet18 Ring</c:v>
                </c:pt>
              </c:strCache>
            </c:strRef>
          </c:tx>
          <c:spPr>
            <a:solidFill xmlns:a="http://schemas.openxmlformats.org/drawingml/2006/main">
              <a:srgbClr val="1667A8"/>
            </a:solidFill>
            <a:ln xmlns:a="http://schemas.openxmlformats.org/drawingml/2006/main" w="27940">
              <a:solidFill>
                <a:srgbClr val="1667A8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667A8"/>
              </a:solidFill>
              <a:ln xmlns:a="http://schemas.openxmlformats.org/drawingml/2006/main" w="9525">
                <a:solidFill>
                  <a:srgbClr val="1667A8"/>
                </a:solidFill>
                <a:prstDash val="solid"/>
              </a:ln>
            </c:spPr>
          </c:marker>
          <c:dLbls>
            <c:numFmt formatCode="#,##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0" i="0" u="none">
                    <a:solidFill>
                      <a:srgbClr val="000000"/>
                    </a:solidFill>
                    <a:latin typeface="Microsoft YaHei UI"/>
                    <a:ea typeface="Microsoft YaHei UI"/>
                    <a:cs typeface="Microsoft YaHei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1</c:v>
                </c:pt>
                <c:pt idx="1">
                  <c:v>2</c:v>
                </c:pt>
                <c:pt idx="2">
                  <c:v>4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</c:v>
                </c:pt>
                <c:pt idx="1">
                  <c:v>0.686</c:v>
                </c:pt>
                <c:pt idx="2">
                  <c:v>0.587</c:v>
                </c:pt>
              </c:numCache>
            </c:numRef>
          </c:val>
          <c:smooth val="0"/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 i="0" u="none">
                  <a:solidFill>
                    <a:srgbClr val="000000"/>
                  </a:solidFill>
                  <a:latin typeface="Microsoft YaHei UI"/>
                  <a:ea typeface="Microsoft YaHei UI"/>
                  <a:cs typeface="Microsoft YaHei U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000000"/>
                </a:solidFill>
                <a:latin typeface="Microsoft YaHei UI"/>
                <a:ea typeface="Microsoft YaHei UI"/>
                <a:cs typeface="Microsoft YaHei UI"/>
              </a:defRPr>
            </a:pPr>
          </a:p>
        </c:txPr>
        <c:crossAx val="2094734552"/>
        <c:crosses val="autoZero"/>
      </c:catAx>
      <c:valAx>
        <c:axId val="2094734552"/>
        <c:scaling>
          <c:orientation val="minMax"/>
          <c:max val="4.2"/>
          <c:min val="0"/>
        </c:scaling>
        <c:delete val="0"/>
        <c:axPos val="l"/>
        <c:majorGridlines>
          <c:spPr>
            <a:ln xmlns:a="http://schemas.openxmlformats.org/drawingml/2006/main" w="8890">
              <a:solidFill>
                <a:srgbClr val="D9E2EC"/>
              </a:solidFill>
              <a:prstDash val="solid"/>
            </a:ln>
          </c:spPr>
        </c:majorGridlines>
        <c:numFmt formatCode="General" sourceLinked="0"/>
        <c:majorTickMark val="out"/>
        <c:minorTickMark val="none"/>
        <c:tickLblPos val="nextTo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000000"/>
                </a:solidFill>
                <a:latin typeface="Microsoft YaHei UI"/>
                <a:ea typeface="Microsoft YaHei UI"/>
                <a:cs typeface="Microsoft YaHei UI"/>
              </a:defRPr>
            </a:pPr>
          </a:p>
        </c:txPr>
        <c:crossAx val="2094734554"/>
        <c:crosses val="autoZero"/>
        <c:crossBetween val="between"/>
        <c:majorUnit val="1"/>
      </c:val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 UI"/>
              <a:ea typeface="Microsoft YaHei UI"/>
              <a:cs typeface="Microsoft YaHei U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10160">
      <a:solidFill>
        <a:srgbClr val="D9E2EC"/>
      </a:solidFill>
    </a:ln>
  </c:spPr>
  <c:externalData xmlns:r="http://schemas.openxmlformats.org/officeDocument/2006/relationships" r:id="rId1">
    <c:autoUpdate val="0"/>
  </c:externalData>
</c:chartSpace>
</file>

<file path=ppt/slides/charts/chart2.xml><?xml version="1.0" encoding="utf-8"?>
<c:chartSpace xmlns:c="http://schemas.openxmlformats.org/drawingml/2006/chart">
  <c:lang val="en-US"/>
  <c:roundedCorners val="1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00" b="0" i="0" u="none">
                <a:solidFill>
                  <a:srgbClr val="000000"/>
                </a:solidFill>
                <a:latin typeface="Microsoft YaHei UI"/>
                <a:ea typeface="Microsoft YaHei UI"/>
                <a:cs typeface="Microsoft YaHei UI"/>
              </a:rPr>
              <a:t>同配置 epoch 中位耗时（秒）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00" b="0" i="0" u="none">
              <a:solidFill>
                <a:srgbClr val="000000"/>
              </a:solidFill>
              <a:latin typeface="Microsoft YaHei UI"/>
              <a:ea typeface="Microsoft YaHei UI"/>
              <a:cs typeface="Microsoft YaHei U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原基线</c:v>
                </c:pt>
              </c:strCache>
            </c:strRef>
          </c:tx>
          <c:spPr>
            <a:solidFill xmlns:a="http://schemas.openxmlformats.org/drawingml/2006/main">
              <a:srgbClr val="E07A3F"/>
            </a:solidFill>
          </c:spPr>
          <c:dLbls>
            <c:numFmt formatCode="#,##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0" i="0" u="none">
                    <a:solidFill>
                      <a:srgbClr val="000000"/>
                    </a:solidFill>
                    <a:latin typeface="Microsoft YaHei UI"/>
                    <a:ea typeface="Microsoft YaHei UI"/>
                    <a:cs typeface="Microsoft YaHei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MNIST PS2</c:v>
                </c:pt>
                <c:pt idx="1">
                  <c:v>MNIST PS4</c:v>
                </c:pt>
                <c:pt idx="2">
                  <c:v>MNIST R2</c:v>
                </c:pt>
                <c:pt idx="3">
                  <c:v>MNIST R4</c:v>
                </c:pt>
                <c:pt idx="4">
                  <c:v>ResNet PS2</c:v>
                </c:pt>
                <c:pt idx="5">
                  <c:v>ResNet PS4</c:v>
                </c:pt>
                <c:pt idx="6">
                  <c:v>ResNet R2</c:v>
                </c:pt>
                <c:pt idx="7">
                  <c:v>ResNet R4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34.329</c:v>
                </c:pt>
                <c:pt idx="1">
                  <c:v>62.145</c:v>
                </c:pt>
                <c:pt idx="2">
                  <c:v>4.226</c:v>
                </c:pt>
                <c:pt idx="3">
                  <c:v>6.396</c:v>
                </c:pt>
                <c:pt idx="4">
                  <c:v>110.171</c:v>
                </c:pt>
                <c:pt idx="5">
                  <c:v>210.157</c:v>
                </c:pt>
                <c:pt idx="6">
                  <c:v>13.276</c:v>
                </c:pt>
                <c:pt idx="7">
                  <c:v>16.488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优化版</c:v>
                </c:pt>
              </c:strCache>
            </c:strRef>
          </c:tx>
          <c:spPr>
            <a:solidFill xmlns:a="http://schemas.openxmlformats.org/drawingml/2006/main">
              <a:srgbClr val="0E9F9A"/>
            </a:solidFill>
          </c:spPr>
          <c:dLbls>
            <c:numFmt formatCode="#,##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0" i="0" u="none">
                    <a:solidFill>
                      <a:srgbClr val="000000"/>
                    </a:solidFill>
                    <a:latin typeface="Microsoft YaHei UI"/>
                    <a:ea typeface="Microsoft YaHei UI"/>
                    <a:cs typeface="Microsoft YaHei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MNIST PS2</c:v>
                </c:pt>
                <c:pt idx="1">
                  <c:v>MNIST PS4</c:v>
                </c:pt>
                <c:pt idx="2">
                  <c:v>MNIST R2</c:v>
                </c:pt>
                <c:pt idx="3">
                  <c:v>MNIST R4</c:v>
                </c:pt>
                <c:pt idx="4">
                  <c:v>ResNet PS2</c:v>
                </c:pt>
                <c:pt idx="5">
                  <c:v>ResNet PS4</c:v>
                </c:pt>
                <c:pt idx="6">
                  <c:v>ResNet R2</c:v>
                </c:pt>
                <c:pt idx="7">
                  <c:v>ResNet R4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12.206659800001944</c:v>
                </c:pt>
                <c:pt idx="1">
                  <c:v>15.398597100000188</c:v>
                </c:pt>
                <c:pt idx="2">
                  <c:v>3.369404900004156</c:v>
                </c:pt>
                <c:pt idx="3">
                  <c:v>5.684272300000885</c:v>
                </c:pt>
                <c:pt idx="4">
                  <c:v>14.073025300000154</c:v>
                </c:pt>
                <c:pt idx="5">
                  <c:v>16.93579950000276</c:v>
                </c:pt>
                <c:pt idx="6">
                  <c:v>13.187261800005217</c:v>
                </c:pt>
                <c:pt idx="7">
                  <c:v>15.422325500003353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 i="0" u="none">
                  <a:solidFill>
                    <a:srgbClr val="000000"/>
                  </a:solidFill>
                  <a:latin typeface="Microsoft YaHei UI"/>
                  <a:ea typeface="Microsoft YaHei UI"/>
                  <a:cs typeface="Microsoft YaHei U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rgbClr val="000000"/>
                </a:solidFill>
                <a:latin typeface="Microsoft YaHei UI"/>
                <a:ea typeface="Microsoft YaHei UI"/>
                <a:cs typeface="Microsoft YaHei UI"/>
              </a:defRPr>
            </a:pPr>
          </a:p>
        </c:txPr>
        <c:crossAx val="2094734552"/>
        <c:crosses val="autoZero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8890">
              <a:solidFill>
                <a:srgbClr val="D9E2EC"/>
              </a:solidFill>
              <a:prstDash val="solid"/>
            </a:ln>
          </c:spPr>
        </c:majorGridlines>
        <c:numFmt formatCode="General" sourceLinked="0"/>
        <c:majorTickMark val="out"/>
        <c:minorTickMark val="none"/>
        <c:tickLblPos val="nextTo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000000"/>
                </a:solidFill>
                <a:latin typeface="Microsoft YaHei UI"/>
                <a:ea typeface="Microsoft YaHei UI"/>
                <a:cs typeface="Microsoft YaHei UI"/>
              </a:defRPr>
            </a:pPr>
          </a:p>
        </c:txPr>
        <c:crossAx val="2094734554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 UI"/>
              <a:ea typeface="Microsoft YaHei UI"/>
              <a:cs typeface="Microsoft YaHei U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10160">
      <a:solidFill>
        <a:srgbClr val="D9E2EC"/>
      </a:solidFill>
    </a:ln>
  </c:spPr>
  <c:externalData xmlns:r="http://schemas.openxmlformats.org/officeDocument/2006/relationships" r:id="rId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31D0E0E-6A4E-4E23-BACC-4120A9D1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1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12700">
            <a:solidFill>
              <a:srgbClr val="0E9F9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2833035-5E9B-4114-8771-50B5C800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713232"/>
            <a:ext cx="3657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 spc="200">
                <a:solidFill>
                  <a:srgbClr val="8DE0D9"/>
                </a:solidFill>
                <a:latin typeface="Microsoft YaHei UI"/>
                <a:ea typeface="Microsoft YaHei UI"/>
                <a:cs typeface="Microsoft YaHei UI"/>
              </a:rPr>
              <a:t>第四周汇报</a:t>
            </a:r>
            <a:endParaRPr sz="1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8FBB8AE-CB25-4751-9B58-3B7F4EF1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34440"/>
            <a:ext cx="65836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分布式训练与 GPU 实现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68B7F11-CFDE-445B-A730-AD01CFE7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057400"/>
            <a:ext cx="7132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D9E2EC"/>
                </a:solidFill>
                <a:latin typeface="Microsoft YaHei UI"/>
                <a:ea typeface="Microsoft YaHei UI"/>
                <a:cs typeface="Microsoft YaHei UI"/>
              </a:rPr>
              <a:t>MNIST MLP · DonkeyCar ResNet18 · Parameter Server · Ring AllReduce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766E06F-9930-4CF3-B69D-8B5C806E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578608"/>
            <a:ext cx="594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B8C7D9"/>
                </a:solidFill>
                <a:latin typeface="Microsoft YaHei UI"/>
                <a:ea typeface="Microsoft YaHei UI"/>
                <a:cs typeface="Microsoft YaHei UI"/>
              </a:rPr>
              <a:t>同条件单机模拟：记录计算、通信、消息量、准确率与加速比</a:t>
            </a:r>
            <a:endParaRPr sz="12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BB7159F-CAE0-41EE-A81D-421F7047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6080760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B8C7D9"/>
                </a:solidFill>
                <a:latin typeface="Microsoft YaHei UI"/>
                <a:ea typeface="Microsoft YaHei UI"/>
                <a:cs typeface="Microsoft YaHei UI"/>
              </a:rPr>
              <a:t>2026-09-19</a:t>
            </a:r>
            <a:endParaRPr sz="11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F00715D-2AE0-46BA-8F61-42DC9BAC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2240280"/>
            <a:ext cx="1463040" cy="1463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12700">
            <a:solidFill>
              <a:srgbClr val="0E9F9A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3DFCF71-8D18-41FE-B802-312E7E28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2633472"/>
            <a:ext cx="10058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02A43"/>
                </a:solidFill>
                <a:latin typeface="Microsoft YaHei UI"/>
                <a:ea typeface="Microsoft YaHei UI"/>
                <a:cs typeface="Microsoft YaHei UI"/>
              </a:rPr>
              <a:t>单机</a:t>
            </a:r>
            <a:endParaRPr sz="1800"/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02A43"/>
                </a:solidFill>
                <a:latin typeface="Microsoft YaHei UI"/>
                <a:ea typeface="Microsoft YaHei UI"/>
                <a:cs typeface="Microsoft YaHei UI"/>
              </a:rPr>
              <a:t>GPU</a:t>
            </a:r>
            <a:endParaRPr sz="18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8E88789-D0DA-443E-854D-5EA3AD31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280160"/>
            <a:ext cx="960120" cy="960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4B63"/>
          </a:solidFill>
          <a:ln xmlns:a="http://schemas.openxmlformats.org/drawingml/2006/main" w="12700">
            <a:solidFill>
              <a:srgbClr val="5BC5BE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0738A95-EF3D-4A0F-8FF8-997CB3E1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18488"/>
            <a:ext cx="960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PS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E172390-E762-4191-B2B4-92851AC6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8205893" y="2081216"/>
            <a:ext cx="534132" cy="4175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5BC5BE"/>
            </a:solidFill>
            <a:prstDash val="solid"/>
            <a:tailEnd type="triangle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B927A07-BED9-445F-AFAB-FF7E63C3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280160"/>
            <a:ext cx="960120" cy="960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4B63"/>
          </a:solidFill>
          <a:ln xmlns:a="http://schemas.openxmlformats.org/drawingml/2006/main" w="12700">
            <a:solidFill>
              <a:srgbClr val="5BC5BE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2945C37-5748-4218-8773-018DDA4A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618488"/>
            <a:ext cx="960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Ring</a:t>
            </a:r>
            <a:endParaRPr sz="12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C1B4B36-A147-4BBF-B0E6-DDF77AE8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884148" y="2131562"/>
            <a:ext cx="288575" cy="29299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5BC5BE"/>
            </a:solidFill>
            <a:prstDash val="solid"/>
            <a:tailEnd type="triangle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1D718E4-32EA-4D08-B8BF-235485A0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80560"/>
            <a:ext cx="960120" cy="960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4B63"/>
          </a:solidFill>
          <a:ln xmlns:a="http://schemas.openxmlformats.org/drawingml/2006/main" w="12700">
            <a:solidFill>
              <a:srgbClr val="5BC5BE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932394C-B5FE-45EF-825A-C0953BBD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18888"/>
            <a:ext cx="960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Worker</a:t>
            </a:r>
            <a:endParaRPr sz="12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68CD56F-A675-484E-99A8-0F847DA8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115643" y="3577648"/>
            <a:ext cx="757381" cy="9718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5BC5BE"/>
            </a:solidFill>
            <a:prstDash val="solid"/>
            <a:tailEnd type="triangle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55D3862A-81FE-4116-A196-4C942628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480560"/>
            <a:ext cx="960120" cy="960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4B63"/>
          </a:solidFill>
          <a:ln xmlns:a="http://schemas.openxmlformats.org/drawingml/2006/main" w="12700">
            <a:solidFill>
              <a:srgbClr val="5BC5BE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B419CE1-587F-42A8-8511-CE115988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818888"/>
            <a:ext cx="960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Worker</a:t>
            </a:r>
            <a:endParaRPr sz="12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F37AD5C-E134-42B0-9191-72B3E309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0350" y="3630437"/>
            <a:ext cx="529951" cy="8832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5BC5BE"/>
            </a:solidFill>
            <a:prstDash val="solid"/>
            <a:tailEnd type="triangle"/>
          </a:ln>
        </p:spPr>
      </p:sp>
    </p:spTree>
    <p:extLst>
      <p:ext uri="{BB962C8B-B14F-4D97-AF65-F5344CB8AC3E}">
        <p14:creationId xmlns:p14="http://schemas.microsoft.com/office/powerpoint/2010/main" val="19127736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177CFCB-189A-4277-8C85-6D1FCFAA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7A8"/>
          </a:solidFill>
          <a:ln xmlns:a="http://schemas.openxmlformats.org/drawingml/2006/main" w="12700">
            <a:solidFill>
              <a:srgbClr val="1667A8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1E2AEA5-CD90-4BA0-BE47-FB7092C7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10896"/>
            <a:ext cx="20116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20">
                <a:solidFill>
                  <a:srgbClr val="0E9F9A"/>
                </a:solidFill>
                <a:latin typeface="Microsoft YaHei UI"/>
                <a:ea typeface="Microsoft YaHei UI"/>
                <a:cs typeface="Microsoft YaHei UI"/>
              </a:rPr>
              <a:t>第四周汇报</a:t>
            </a:r>
            <a:endParaRPr sz="1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EFDF317-C818-47A5-A0DC-B42BEBFC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6928"/>
            <a:ext cx="110185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02A43"/>
                </a:solidFill>
                <a:latin typeface="Microsoft YaHei UI"/>
                <a:ea typeface="Microsoft YaHei UI"/>
                <a:cs typeface="Microsoft YaHei UI"/>
              </a:rPr>
              <a:t>课程要求与本次完成范围</a:t>
            </a:r>
            <a:endParaRPr sz="2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EF530A6-4C2B-4678-88B8-CA91CDC0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15568"/>
            <a:ext cx="110459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C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0B619FD-77A4-4A51-B4F5-A5705AB7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47104"/>
            <a:ext cx="49377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2606D"/>
                </a:solidFill>
                <a:latin typeface="Microsoft YaHei UI"/>
                <a:ea typeface="Microsoft YaHei UI"/>
                <a:cs typeface="Microsoft YaHei UI"/>
              </a:rPr>
              <a:t>testmyflow · 单机多进程 · RTX 4060 Laptop</a:t>
            </a:r>
            <a:endParaRPr sz="8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2CA9F61-480B-4E89-B873-4933CE7B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07592"/>
            <a:ext cx="6949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2606D"/>
                </a:solidFill>
                <a:latin typeface="Microsoft YaHei UI"/>
                <a:ea typeface="Microsoft YaHei UI"/>
                <a:cs typeface="Microsoft YaHei UI"/>
              </a:rPr>
              <a:t>三份课件的要求被拆成“系统、测量、对照、解释”四类证据。</a:t>
            </a:r>
            <a:endParaRPr sz="1500"/>
          </a:p>
        </p:txBody>
      </p:sp>
      <p:graphicFrame>
        <p:nvGraphicFramePr>
          <p:cNvPr id="31" name="Table 0"/>
          <p:cNvGraphicFramePr/>
          <p:nvPr/>
        </p:nvGraphicFramePr>
        <p:xfrm>
          <a:off xmlns:a="http://schemas.openxmlformats.org/drawingml/2006/main" x="640080" y="1719072"/>
          <a:ext xmlns:a="http://schemas.openxmlformats.org/drawingml/2006/main" cx="6858000" cy="2971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7280"/>
                <a:gridCol w="5760720"/>
              </a:tblGrid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课件要求</a:t>
                      </a:r>
                      <a:endParaRPr sz="120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落实方式</a:t>
                      </a:r>
                      <a:endParaRPr sz="120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系统</a:t>
                      </a:r>
                      <a:endParaRPr sz="120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PS：1 个 PS + 2/4 个 Worker + Launcher + Monitor；Ring：Split / ScatterReduce / AllGather</a:t>
                      </a:r>
                      <a:endParaRPr sz="120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任务</a:t>
                      </a:r>
                      <a:endParaRPr sz="120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MNIST + MLP 先跑通，再做 CNN / DonkeyCar 道路任务</a:t>
                      </a:r>
                      <a:endParaRPr sz="120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测量</a:t>
                      </a:r>
                      <a:endParaRPr sz="120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每个 epoch 分开记录总时间、计算时间、通信时间、消息体积、准确率 / MAE</a:t>
                      </a:r>
                      <a:endParaRPr sz="120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解释</a:t>
                      </a:r>
                      <a:endParaRPr sz="120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加速比与线性理想值对照，指出通信、同步、数据与单卡资源瓶颈</a:t>
                      </a:r>
                      <a:endParaRPr sz="120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F91A1F4E-9B42-4875-B02E-19F6D7A4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17320"/>
            <a:ext cx="1600200" cy="1170432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 w="12700">
            <a:solidFill>
              <a:srgbClr val="D9E2EC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1938664-510B-4905-ABCE-E85DD3FB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304" y="1563624"/>
            <a:ext cx="130759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667A8"/>
                </a:solidFill>
                <a:latin typeface="Microsoft YaHei UI"/>
                <a:ea typeface="Microsoft YaHei UI"/>
                <a:cs typeface="Microsoft YaHei UI"/>
              </a:rPr>
              <a:t>56</a:t>
            </a:r>
            <a:endParaRPr sz="24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030CD3C-32F0-4FE7-95D6-3B442FED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1984248"/>
            <a:ext cx="138074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2606D"/>
                </a:solidFill>
                <a:latin typeface="Microsoft YaHei UI"/>
                <a:ea typeface="Microsoft YaHei UI"/>
                <a:cs typeface="Microsoft YaHei UI"/>
              </a:rPr>
              <a:t>正式档案</a:t>
            </a:r>
            <a:endParaRPr sz="10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6D155FB-AC0A-4BA2-9B46-33D8DDCC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417320"/>
            <a:ext cx="1600200" cy="1170432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5F5F3"/>
          </a:solidFill>
          <a:ln xmlns:a="http://schemas.openxmlformats.org/drawingml/2006/main" w="12700">
            <a:solidFill>
              <a:srgbClr val="D9E2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4171C5D-B60A-4AE5-BAC9-2536C271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1563624"/>
            <a:ext cx="130759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0E9F9A"/>
                </a:solidFill>
                <a:latin typeface="Microsoft YaHei UI"/>
                <a:ea typeface="Microsoft YaHei UI"/>
                <a:cs typeface="Microsoft YaHei UI"/>
              </a:rPr>
              <a:t>42</a:t>
            </a:r>
            <a:endParaRPr sz="24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EAE54926-8E61-4196-853E-944F3BA5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1984248"/>
            <a:ext cx="138074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2606D"/>
                </a:solidFill>
                <a:latin typeface="Microsoft YaHei UI"/>
                <a:ea typeface="Microsoft YaHei UI"/>
                <a:cs typeface="Microsoft YaHei UI"/>
              </a:rPr>
              <a:t>性能重复</a:t>
            </a:r>
            <a:endParaRPr sz="105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428A91D3-B7AD-426F-B0B8-C1E6D50E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88920"/>
            <a:ext cx="1600200" cy="1170432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2700">
            <a:solidFill>
              <a:srgbClr val="D9E2EC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A5FC1D6-134E-4A40-A504-76F4453D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304" y="2935224"/>
            <a:ext cx="130759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E07A3F"/>
                </a:solidFill>
                <a:latin typeface="Microsoft YaHei UI"/>
                <a:ea typeface="Microsoft YaHei UI"/>
                <a:cs typeface="Microsoft YaHei UI"/>
              </a:rPr>
              <a:t>204</a:t>
            </a:r>
            <a:endParaRPr sz="24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3DC5312D-524C-4C3E-B066-B96E9432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3355848"/>
            <a:ext cx="138074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2606D"/>
                </a:solidFill>
                <a:latin typeface="Microsoft YaHei UI"/>
                <a:ea typeface="Microsoft YaHei UI"/>
                <a:cs typeface="Microsoft YaHei UI"/>
              </a:rPr>
              <a:t>全量回归</a:t>
            </a:r>
            <a:endParaRPr sz="105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4498AA60-2CA4-4566-B6E6-97FCBFC9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2788920"/>
            <a:ext cx="1600200" cy="1170432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 w="12700">
            <a:solidFill>
              <a:srgbClr val="D9E2EC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3D646E18-E317-4892-94BC-5BC49258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2935224"/>
            <a:ext cx="130759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667A8"/>
                </a:solidFill>
                <a:latin typeface="Microsoft YaHei UI"/>
                <a:ea typeface="Microsoft YaHei UI"/>
                <a:cs typeface="Microsoft YaHei UI"/>
              </a:rPr>
              <a:t>14/14</a:t>
            </a:r>
            <a:endParaRPr sz="24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C04DBA44-1237-469E-84DF-F079E86B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3355848"/>
            <a:ext cx="138074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2606D"/>
                </a:solidFill>
                <a:latin typeface="Microsoft YaHei UI"/>
                <a:ea typeface="Microsoft YaHei UI"/>
                <a:cs typeface="Microsoft YaHei UI"/>
              </a:rPr>
              <a:t>训练质量</a:t>
            </a:r>
            <a:endParaRPr sz="10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19B07BC8-FAFE-4066-9554-BBE2457B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15968"/>
            <a:ext cx="338328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75CC1C6A-6776-4B2A-AE62-B5C18663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4507992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2A43"/>
                </a:solidFill>
                <a:latin typeface="Microsoft YaHei UI"/>
                <a:ea typeface="Microsoft YaHei UI"/>
                <a:cs typeface="Microsoft YaHei UI"/>
              </a:rPr>
              <a:t>交付边界</a:t>
            </a:r>
            <a:endParaRPr sz="12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28EE9B3D-95D2-4C35-AAA8-C83F7C87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4773168"/>
            <a:ext cx="2880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2606D"/>
                </a:solidFill>
                <a:latin typeface="Microsoft YaHei UI"/>
                <a:ea typeface="Microsoft YaHei UI"/>
                <a:cs typeface="Microsoft YaHei UI"/>
              </a:rPr>
              <a:t>单机回环模拟；所有 Worker 共享一张 RTX 4060 Laptop GPU。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4264096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FCA7635-E1FE-4582-A0B5-ECAE8F00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7A8"/>
          </a:solidFill>
          <a:ln xmlns:a="http://schemas.openxmlformats.org/drawingml/2006/main" w="12700">
            <a:solidFill>
              <a:srgbClr val="1667A8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18DCCC1-BADB-471D-B001-E280C53F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10896"/>
            <a:ext cx="20116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20">
                <a:solidFill>
                  <a:srgbClr val="0E9F9A"/>
                </a:solidFill>
                <a:latin typeface="Microsoft YaHei UI"/>
                <a:ea typeface="Microsoft YaHei UI"/>
                <a:cs typeface="Microsoft YaHei UI"/>
              </a:rPr>
              <a:t>第四周汇报</a:t>
            </a:r>
            <a:endParaRPr sz="1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FD26B4B-AD77-4F8B-A889-DFCF2FC3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6928"/>
            <a:ext cx="110185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02A43"/>
                </a:solidFill>
                <a:latin typeface="Microsoft YaHei UI"/>
                <a:ea typeface="Microsoft YaHei UI"/>
                <a:cs typeface="Microsoft YaHei UI"/>
              </a:rPr>
              <a:t>系统架构：PS 与 Ring 的职责</a:t>
            </a:r>
            <a:endParaRPr sz="2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B05E97-8CCE-4F5B-AC04-65097FCA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15568"/>
            <a:ext cx="110459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C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59CCFFC-83A0-41FA-AA0D-4C8C3191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47104"/>
            <a:ext cx="49377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2606D"/>
                </a:solidFill>
                <a:latin typeface="Microsoft YaHei UI"/>
                <a:ea typeface="Microsoft YaHei UI"/>
                <a:cs typeface="Microsoft YaHei UI"/>
              </a:rPr>
              <a:t>testmyflow · 单机多进程 · RTX 4060 Laptop</a:t>
            </a:r>
            <a:endParaRPr sz="8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97665EE-92E4-439D-B08E-155534D0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98448"/>
            <a:ext cx="7680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52606D"/>
                </a:solidFill>
                <a:latin typeface="Microsoft YaHei UI"/>
                <a:ea typeface="Microsoft YaHei UI"/>
                <a:cs typeface="Microsoft YaHei UI"/>
              </a:rPr>
              <a:t>两种架构共享同一套 Worker 训练入口，差别集中在梯度聚合拓扑。</a:t>
            </a:r>
            <a:endParaRPr sz="1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C223E24-DCC6-47CF-9B14-1F8253EC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737360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667A8"/>
                </a:solidFill>
                <a:latin typeface="Microsoft YaHei UI"/>
                <a:ea typeface="Microsoft YaHei UI"/>
                <a:cs typeface="Microsoft YaHei UI"/>
              </a:rPr>
              <a:t>Parameter Server（中心化）</a:t>
            </a:r>
            <a:endParaRPr sz="17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2FD92EB0-754E-4353-ABF8-2116DD37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2697480"/>
            <a:ext cx="182880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 w="12700">
            <a:solidFill>
              <a:srgbClr val="E8F1F8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DE1238C-4F47-40A4-B077-B5B9E4D3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832" y="2798064"/>
            <a:ext cx="1682496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667A8"/>
                </a:solidFill>
                <a:latin typeface="Microsoft YaHei UI"/>
                <a:ea typeface="Microsoft YaHei UI"/>
                <a:cs typeface="Microsoft YaHei UI"/>
              </a:rPr>
              <a:t>PS</a:t>
            </a:r>
            <a:endParaRPr sz="1300"/>
          </a:p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667A8"/>
                </a:solidFill>
                <a:latin typeface="Microsoft YaHei UI"/>
                <a:ea typeface="Microsoft YaHei UI"/>
                <a:cs typeface="Microsoft YaHei UI"/>
              </a:rPr>
              <a:t>保存参数</a:t>
            </a:r>
            <a:endParaRPr sz="1300"/>
          </a:p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667A8"/>
                </a:solidFill>
                <a:latin typeface="Microsoft YaHei UI"/>
                <a:ea typeface="Microsoft YaHei UI"/>
                <a:cs typeface="Microsoft YaHei UI"/>
              </a:rPr>
              <a:t>聚合梯度</a:t>
            </a:r>
            <a:endParaRPr sz="13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7D923A4-9887-4C43-AAA0-31FA5FC5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38528"/>
            <a:ext cx="123444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12044A2-FB83-433D-A801-60F165A4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039112"/>
            <a:ext cx="1088136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F2933"/>
                </a:solidFill>
                <a:latin typeface="Microsoft YaHei UI"/>
                <a:ea typeface="Microsoft YaHei UI"/>
                <a:cs typeface="Microsoft YaHei UI"/>
              </a:rPr>
              <a:t>Worker 0</a:t>
            </a:r>
            <a:endParaRPr sz="13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501E23F-0CBE-48CF-BAED-7FCAC0F4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2194560"/>
            <a:ext cx="0" cy="9326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667A8"/>
            </a:solidFill>
            <a:prstDash val="solid"/>
            <a:tailEnd type="triangle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63375650-7630-4FC8-924C-38497371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38528"/>
            <a:ext cx="123444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71029C8-31AF-4455-8387-47200E10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2039112"/>
            <a:ext cx="1088136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F2933"/>
                </a:solidFill>
                <a:latin typeface="Microsoft YaHei UI"/>
                <a:ea typeface="Microsoft YaHei UI"/>
                <a:cs typeface="Microsoft YaHei UI"/>
              </a:rPr>
              <a:t>Worker 1</a:t>
            </a:r>
            <a:endParaRPr sz="13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618D247-E287-4B51-8A6E-0A0B28F6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840480" y="2194560"/>
            <a:ext cx="502920" cy="9326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667A8"/>
            </a:solidFill>
            <a:prstDash val="solid"/>
            <a:tailEnd type="triangle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10503D53-9C50-4157-9A45-F417547C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51960"/>
            <a:ext cx="123444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F2C08AA-0F56-48AC-866D-E2364AAD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52544"/>
            <a:ext cx="1088136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F2933"/>
                </a:solidFill>
                <a:latin typeface="Microsoft YaHei UI"/>
                <a:ea typeface="Microsoft YaHei UI"/>
                <a:cs typeface="Microsoft YaHei UI"/>
              </a:rPr>
              <a:t>Worker 2</a:t>
            </a:r>
            <a:endParaRPr sz="13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0806BBB-C030-4FF9-87F0-5F7533BF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011680" y="3127248"/>
            <a:ext cx="0" cy="13807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667A8"/>
            </a:solidFill>
            <a:prstDash val="solid"/>
            <a:tailEnd type="triangle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65DA830-F7F8-4C3B-B2DD-1834F43C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51960"/>
            <a:ext cx="123444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7AD05B3-C40D-49E7-8822-CEE07D75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4352544"/>
            <a:ext cx="1088136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F2933"/>
                </a:solidFill>
                <a:latin typeface="Microsoft YaHei UI"/>
                <a:ea typeface="Microsoft YaHei UI"/>
                <a:cs typeface="Microsoft YaHei UI"/>
              </a:rPr>
              <a:t>Worker 3</a:t>
            </a:r>
            <a:endParaRPr sz="13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050E66A3-A762-4135-B34A-8953A637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840480" y="3127248"/>
            <a:ext cx="502920" cy="13807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667A8"/>
            </a:solidFill>
            <a:prstDash val="solid"/>
            <a:tailEnd type="triangle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6C2991E-FD14-4216-9A81-497A807D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074920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20">
                <a:solidFill>
                  <a:srgbClr val="52606D"/>
                </a:solidFill>
                <a:latin typeface="Microsoft YaHei UI"/>
                <a:ea typeface="Microsoft YaHei UI"/>
                <a:cs typeface="Microsoft YaHei UI"/>
              </a:rPr>
              <a:t>Push 梯度 → PS 同步聚合 → Worker GPU 更新 / Pull 参数</a:t>
            </a:r>
            <a:endParaRPr sz="112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2D17F1F-314F-492B-BF8A-B86CAFFC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737360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E9F9A"/>
                </a:solidFill>
                <a:latin typeface="Microsoft YaHei UI"/>
                <a:ea typeface="Microsoft YaHei UI"/>
                <a:cs typeface="Microsoft YaHei UI"/>
              </a:rPr>
              <a:t>Ring AllReduce（去中心化）</a:t>
            </a:r>
            <a:endParaRPr sz="17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8F83C6DC-F25E-499C-A4F0-2E76D92E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286000"/>
            <a:ext cx="1097280" cy="713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5F3"/>
          </a:solidFill>
          <a:ln xmlns:a="http://schemas.openxmlformats.org/drawingml/2006/main" w="12700">
            <a:solidFill>
              <a:srgbClr val="0E9F9A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CB1AE9F-0807-4293-BBE7-E095409E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551176"/>
            <a:ext cx="10972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E9F9A"/>
                </a:solidFill>
                <a:latin typeface="Microsoft YaHei UI"/>
                <a:ea typeface="Microsoft YaHei UI"/>
                <a:cs typeface="Microsoft YaHei UI"/>
              </a:rPr>
              <a:t>W0</a:t>
            </a:r>
            <a:endParaRPr sz="14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A85EB4B4-765D-453C-9377-ABB3B57E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2286000"/>
            <a:ext cx="1097280" cy="713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5F3"/>
          </a:solidFill>
          <a:ln xmlns:a="http://schemas.openxmlformats.org/drawingml/2006/main" w="12700">
            <a:solidFill>
              <a:srgbClr val="0E9F9A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332CB349-D090-4759-94B1-11E50665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2551176"/>
            <a:ext cx="10972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E9F9A"/>
                </a:solidFill>
                <a:latin typeface="Microsoft YaHei UI"/>
                <a:ea typeface="Microsoft YaHei UI"/>
                <a:cs typeface="Microsoft YaHei UI"/>
              </a:rPr>
              <a:t>W1</a:t>
            </a:r>
            <a:endParaRPr sz="140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3D30B9A9-DF45-4263-82CF-83AAF4AC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4251960"/>
            <a:ext cx="1097280" cy="713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5F3"/>
          </a:solidFill>
          <a:ln xmlns:a="http://schemas.openxmlformats.org/drawingml/2006/main" w="12700">
            <a:solidFill>
              <a:srgbClr val="0E9F9A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3D9D4FC4-6A86-452B-A555-4339351F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4517136"/>
            <a:ext cx="10972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E9F9A"/>
                </a:solidFill>
                <a:latin typeface="Microsoft YaHei UI"/>
                <a:ea typeface="Microsoft YaHei UI"/>
                <a:cs typeface="Microsoft YaHei UI"/>
              </a:rPr>
              <a:t>W2</a:t>
            </a:r>
            <a:endParaRPr sz="140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A88D27C6-943C-4120-81E2-2A59BA0F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4251960"/>
            <a:ext cx="1097280" cy="713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5F3"/>
          </a:solidFill>
          <a:ln xmlns:a="http://schemas.openxmlformats.org/drawingml/2006/main" w="12700">
            <a:solidFill>
              <a:srgbClr val="0E9F9A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1AEDF12-FBE5-4F85-9435-8E9C64EA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4517136"/>
            <a:ext cx="10972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E9F9A"/>
                </a:solidFill>
                <a:latin typeface="Microsoft YaHei UI"/>
                <a:ea typeface="Microsoft YaHei UI"/>
                <a:cs typeface="Microsoft YaHei UI"/>
              </a:rPr>
              <a:t>W3</a:t>
            </a:r>
            <a:endParaRPr sz="140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8FCA2BF7-1AE6-472E-99E0-48CF7138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633472"/>
            <a:ext cx="1280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E9F9A"/>
            </a:solidFill>
            <a:prstDash val="solid"/>
            <a:tailEnd type="triangle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DEC11900-5232-4F3A-8E2A-FC508F4B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2999232"/>
            <a:ext cx="0" cy="1252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E9F9A"/>
            </a:solidFill>
            <a:prstDash val="solid"/>
            <a:tailEnd type="triangle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EEBB9630-E966-45B9-A5C5-7B2B4D49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503920" y="4608576"/>
            <a:ext cx="1280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E9F9A"/>
            </a:solidFill>
            <a:prstDash val="solid"/>
            <a:tailEnd type="triangle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6A38FAEC-84F4-4B3D-9E61-7ABB6B77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406640" y="2999232"/>
            <a:ext cx="0" cy="1252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E9F9A"/>
            </a:solidFill>
            <a:prstDash val="solid"/>
            <a:tailEnd type="triangle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76F923D0-231A-430A-8413-939A2AAB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5074920"/>
            <a:ext cx="4297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52606D"/>
                </a:solidFill>
                <a:latin typeface="Microsoft YaHei UI"/>
                <a:ea typeface="Microsoft YaHei UI"/>
                <a:cs typeface="Microsoft YaHei UI"/>
              </a:rPr>
              <a:t>每个 Worker 同时发送右邻居、接收左邻居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52606D"/>
                </a:solidFill>
                <a:latin typeface="Microsoft YaHei UI"/>
                <a:ea typeface="Microsoft YaHei UI"/>
                <a:cs typeface="Microsoft YaHei UI"/>
              </a:rPr>
              <a:t>完成 N−1 次 ScatterReduce + N−1 次 AllGather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0548586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F3CEC2E-D247-4604-ACE8-13EF1118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7A8"/>
          </a:solidFill>
          <a:ln xmlns:a="http://schemas.openxmlformats.org/drawingml/2006/main" w="12700">
            <a:solidFill>
              <a:srgbClr val="1667A8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54EBE9D-B7AA-448D-B7FD-519C2BD5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10896"/>
            <a:ext cx="20116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20">
                <a:solidFill>
                  <a:srgbClr val="0E9F9A"/>
                </a:solidFill>
                <a:latin typeface="Microsoft YaHei UI"/>
                <a:ea typeface="Microsoft YaHei UI"/>
                <a:cs typeface="Microsoft YaHei UI"/>
              </a:rPr>
              <a:t>第四周汇报</a:t>
            </a:r>
            <a:endParaRPr sz="1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206B89F-5D85-4B31-9335-22850366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6928"/>
            <a:ext cx="110185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02A43"/>
                </a:solidFill>
                <a:latin typeface="Microsoft YaHei UI"/>
                <a:ea typeface="Microsoft YaHei UI"/>
                <a:cs typeface="Microsoft YaHei UI"/>
              </a:rPr>
              <a:t>通信与梯度同步流程</a:t>
            </a:r>
            <a:endParaRPr sz="2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4ED01D0-3340-4078-B152-5DEAE1B3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15568"/>
            <a:ext cx="110459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C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204C44F-421A-4238-993D-145CD54F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47104"/>
            <a:ext cx="49377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2606D"/>
                </a:solidFill>
                <a:latin typeface="Microsoft YaHei UI"/>
                <a:ea typeface="Microsoft YaHei UI"/>
                <a:cs typeface="Microsoft YaHei UI"/>
              </a:rPr>
              <a:t>testmyflow · 单机多进程 · RTX 4060 Laptop</a:t>
            </a:r>
            <a:endParaRPr sz="8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9B02E69-12DD-4E75-8364-32EB1028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98448"/>
            <a:ext cx="731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52606D"/>
                </a:solidFill>
                <a:latin typeface="Microsoft YaHei UI"/>
                <a:ea typeface="Microsoft YaHei UI"/>
                <a:cs typeface="Microsoft YaHei UI"/>
              </a:rPr>
              <a:t>PS 通过中心节点汇总梯度，Ring 将同一梯度切块并沿环传递。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9E08EDC-0755-4D33-A3AD-CF6E61B3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20240"/>
            <a:ext cx="2331720" cy="1261872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5F5F3"/>
          </a:solidFill>
          <a:ln xmlns:a="http://schemas.openxmlformats.org/drawingml/2006/main" w="12700">
            <a:solidFill>
              <a:srgbClr val="0E9F9A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7A05266-A211-4787-A5E9-1F7295AC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139696"/>
            <a:ext cx="21122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0E9F9A"/>
                </a:solidFill>
                <a:latin typeface="Microsoft YaHei UI"/>
                <a:ea typeface="Microsoft YaHei UI"/>
                <a:cs typeface="Microsoft YaHei UI"/>
              </a:rPr>
              <a:t>Split</a:t>
            </a:r>
            <a:endParaRPr sz="1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AA06AF9-C7D9-4607-844D-E92AC856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14600"/>
            <a:ext cx="2057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1F2933"/>
                </a:solidFill>
                <a:latin typeface="Microsoft YaHei UI"/>
                <a:ea typeface="Microsoft YaHei UI"/>
                <a:cs typeface="Microsoft YaHei UI"/>
              </a:rPr>
              <a:t>按 N 个 Worker 等长切块</a:t>
            </a:r>
            <a:endParaRPr sz="1150"/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1F2933"/>
                </a:solidFill>
                <a:latin typeface="Microsoft YaHei UI"/>
                <a:ea typeface="Microsoft YaHei UI"/>
                <a:cs typeface="Microsoft YaHei UI"/>
              </a:rPr>
              <a:t>尾部补零</a:t>
            </a:r>
            <a:endParaRPr sz="11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A2DD6F0-125D-4C5D-9A3E-8B1CB258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112" y="2542032"/>
            <a:ext cx="5394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667A8"/>
            </a:solidFill>
            <a:prstDash val="solid"/>
            <a:tailEnd type="triangle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607E9C5-4F12-4167-AFC7-28AA98B3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920240"/>
            <a:ext cx="2331720" cy="1261872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2700">
            <a:solidFill>
              <a:srgbClr val="E07A3F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787FEE9-8AB2-418C-91DE-B64278FF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488" y="2139696"/>
            <a:ext cx="21122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E07A3F"/>
                </a:solidFill>
                <a:latin typeface="Microsoft YaHei UI"/>
                <a:ea typeface="Microsoft YaHei UI"/>
                <a:cs typeface="Microsoft YaHei UI"/>
              </a:rPr>
              <a:t>ScatterReduce</a:t>
            </a:r>
            <a:endParaRPr sz="1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0417BBC-31ED-4DFD-9EF7-F154D534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514600"/>
            <a:ext cx="2057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1F2933"/>
                </a:solidFill>
                <a:latin typeface="Microsoft YaHei UI"/>
                <a:ea typeface="Microsoft YaHei UI"/>
                <a:cs typeface="Microsoft YaHei UI"/>
              </a:rPr>
              <a:t>每轮发送一个块</a:t>
            </a:r>
            <a:endParaRPr sz="1150"/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1F2933"/>
                </a:solidFill>
                <a:latin typeface="Microsoft YaHei UI"/>
                <a:ea typeface="Microsoft YaHei UI"/>
                <a:cs typeface="Microsoft YaHei UI"/>
              </a:rPr>
              <a:t>边收边累加</a:t>
            </a:r>
            <a:endParaRPr sz="11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CD5CC47-43E8-44CB-98E7-1262053E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912" y="2542032"/>
            <a:ext cx="5394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667A8"/>
            </a:solidFill>
            <a:prstDash val="solid"/>
            <a:tailEnd type="triangle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F97AF8A-1CA7-44F0-8258-84FB222C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920240"/>
            <a:ext cx="2331720" cy="1261872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5F5F3"/>
          </a:solidFill>
          <a:ln xmlns:a="http://schemas.openxmlformats.org/drawingml/2006/main" w="12700">
            <a:solidFill>
              <a:srgbClr val="0E9F9A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3F67B8D-D5C4-4087-B64B-80A28CE5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139696"/>
            <a:ext cx="21122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0E9F9A"/>
                </a:solidFill>
                <a:latin typeface="Microsoft YaHei UI"/>
                <a:ea typeface="Microsoft YaHei UI"/>
                <a:cs typeface="Microsoft YaHei UI"/>
              </a:rPr>
              <a:t>AllGather</a:t>
            </a:r>
            <a:endParaRPr sz="17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6976CCA-E17C-4A20-839A-95D516E8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514600"/>
            <a:ext cx="2057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1F2933"/>
                </a:solidFill>
                <a:latin typeface="Microsoft YaHei UI"/>
                <a:ea typeface="Microsoft YaHei UI"/>
                <a:cs typeface="Microsoft YaHei UI"/>
              </a:rPr>
              <a:t>再次交换块</a:t>
            </a:r>
            <a:endParaRPr sz="1150"/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1F2933"/>
                </a:solidFill>
                <a:latin typeface="Microsoft YaHei UI"/>
                <a:ea typeface="Microsoft YaHei UI"/>
                <a:cs typeface="Microsoft YaHei UI"/>
              </a:rPr>
              <a:t>每个 Worker 得到完整梯度</a:t>
            </a:r>
            <a:endParaRPr sz="11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01954635-A27C-4895-B8BB-4218375E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3977640"/>
            <a:ext cx="4297680" cy="123444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 w="12700">
            <a:solidFill>
              <a:srgbClr val="1667A8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A7D01D3-1267-413B-A6C1-414698DF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4224528"/>
            <a:ext cx="11887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667A8"/>
                </a:solidFill>
                <a:latin typeface="Microsoft YaHei UI"/>
                <a:ea typeface="Microsoft YaHei UI"/>
                <a:cs typeface="Microsoft YaHei UI"/>
              </a:rPr>
              <a:t>PS 通信量</a:t>
            </a:r>
            <a:endParaRPr sz="16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EF57B03-17DA-467F-BF03-34D237D5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4142232"/>
            <a:ext cx="25146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F2933"/>
                </a:solidFill>
                <a:latin typeface="Microsoft YaHei UI"/>
                <a:ea typeface="Microsoft YaHei UI"/>
                <a:cs typeface="Microsoft YaHei UI"/>
              </a:rPr>
              <a:t>集群有向发送总量：2NM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F2933"/>
                </a:solidFill>
                <a:latin typeface="Microsoft YaHei UI"/>
                <a:ea typeface="Microsoft YaHei UI"/>
                <a:cs typeface="Microsoft YaHei UI"/>
              </a:rPr>
              <a:t>中心节点是带宽与等待的集中点</a:t>
            </a:r>
            <a:endParaRPr sz="13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2B426170-F8E4-4324-940D-433B6F4C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77640"/>
            <a:ext cx="4297680" cy="123444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5F5F3"/>
          </a:solidFill>
          <a:ln xmlns:a="http://schemas.openxmlformats.org/drawingml/2006/main" w="12700">
            <a:solidFill>
              <a:srgbClr val="0E9F9A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562581B-C487-4943-A473-0A1E3361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24528"/>
            <a:ext cx="1325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E9F9A"/>
                </a:solidFill>
                <a:latin typeface="Microsoft YaHei UI"/>
                <a:ea typeface="Microsoft YaHei UI"/>
                <a:cs typeface="Microsoft YaHei UI"/>
              </a:rPr>
              <a:t>Ring 通信量</a:t>
            </a:r>
            <a:endParaRPr sz="16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A8F9D63-5416-4085-9AAB-0203F47F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4142232"/>
            <a:ext cx="24231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F2933"/>
                </a:solidFill>
                <a:latin typeface="Microsoft YaHei UI"/>
                <a:ea typeface="Microsoft YaHei UI"/>
                <a:cs typeface="Microsoft YaHei UI"/>
              </a:rPr>
              <a:t>集群有向发送总量：2(N−1)M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F2933"/>
                </a:solidFill>
                <a:latin typeface="Microsoft YaHei UI"/>
                <a:ea typeface="Microsoft YaHei UI"/>
                <a:cs typeface="Microsoft YaHei UI"/>
              </a:rPr>
              <a:t>单 Worker 量不随 N 线性增长</a:t>
            </a:r>
            <a:endParaRPr sz="13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11FAF51-09D6-4262-B2D6-A6C2C8AC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715000"/>
            <a:ext cx="101955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2606D"/>
                </a:solidFill>
                <a:latin typeface="Microsoft YaHei UI"/>
                <a:ea typeface="Microsoft YaHei UI"/>
                <a:cs typeface="Microsoft YaHei UI"/>
              </a:rPr>
              <a:t>本项目的 PS/Ring 拓扑对照均使用 gRPC + protobuf；Socket + JSON 仅作为 PS 协议对照。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8430754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318FD03-DDE8-4328-BF12-E9E96D0A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7A8"/>
          </a:solidFill>
          <a:ln xmlns:a="http://schemas.openxmlformats.org/drawingml/2006/main" w="12700">
            <a:solidFill>
              <a:srgbClr val="1667A8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64DB5E3-09F5-4168-830D-20DE09BA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10896"/>
            <a:ext cx="20116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20">
                <a:solidFill>
                  <a:srgbClr val="0E9F9A"/>
                </a:solidFill>
                <a:latin typeface="Microsoft YaHei UI"/>
                <a:ea typeface="Microsoft YaHei UI"/>
                <a:cs typeface="Microsoft YaHei UI"/>
              </a:rPr>
              <a:t>第四周汇报</a:t>
            </a:r>
            <a:endParaRPr sz="1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5B79792-95D6-44CD-A9FF-0DC79353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6928"/>
            <a:ext cx="110185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02A43"/>
                </a:solidFill>
                <a:latin typeface="Microsoft YaHei UI"/>
                <a:ea typeface="Microsoft YaHei UI"/>
                <a:cs typeface="Microsoft YaHei UI"/>
              </a:rPr>
              <a:t>GPU 实现边界与 Nsight 证据</a:t>
            </a:r>
            <a:endParaRPr sz="2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A837846-AC93-4918-A446-9B6F0D53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15568"/>
            <a:ext cx="110459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C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FAB4339-27A1-459E-9AC0-0EA45B30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47104"/>
            <a:ext cx="49377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2606D"/>
                </a:solidFill>
                <a:latin typeface="Microsoft YaHei UI"/>
                <a:ea typeface="Microsoft YaHei UI"/>
                <a:cs typeface="Microsoft YaHei UI"/>
              </a:rPr>
              <a:t>testmyflow · 单机多进程 · RTX 4060 Laptop</a:t>
            </a:r>
            <a:endParaRPr sz="8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99CFBA5-F64C-4AEF-B411-5CD6145F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98448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52606D"/>
                </a:solidFill>
                <a:latin typeface="Microsoft YaHei UI"/>
                <a:ea typeface="Microsoft YaHei UI"/>
                <a:cs typeface="Microsoft YaHei UI"/>
              </a:rPr>
              <a:t>数组管理与原生算子职责分开，避免把 CUDA C 调度收益误写成自写 GEMM 胜出。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BF4A7B6-B865-412E-931B-F39BF6CB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1965960" cy="713232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F6DFD68-0BD6-4EA2-BB90-66A7EB89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020824"/>
            <a:ext cx="181965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F2933"/>
                </a:solidFill>
                <a:latin typeface="Microsoft YaHei UI"/>
                <a:ea typeface="Microsoft YaHei UI"/>
                <a:cs typeface="Microsoft YaHei UI"/>
              </a:rPr>
              <a:t>训练图 / Worker</a:t>
            </a:r>
            <a:endParaRPr sz="1300"/>
          </a:p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F2933"/>
                </a:solidFill>
                <a:latin typeface="Microsoft YaHei UI"/>
                <a:ea typeface="Microsoft YaHei UI"/>
                <a:cs typeface="Microsoft YaHei UI"/>
              </a:rPr>
              <a:t>FP32 梯度</a:t>
            </a:r>
            <a:endParaRPr sz="13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EA58D6-14B0-4FEF-8D7F-35FD1B41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276856"/>
            <a:ext cx="640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667A8"/>
            </a:solidFill>
            <a:prstDash val="solid"/>
            <a:tailEnd type="triangle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73F7223-36D3-4BBA-8774-B5BC14BD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920240"/>
            <a:ext cx="1965960" cy="713232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5F5F3"/>
          </a:solidFill>
          <a:ln xmlns:a="http://schemas.openxmlformats.org/drawingml/2006/main" w="12700">
            <a:solidFill>
              <a:srgbClr val="E5F5F3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A7BD1DC-6B7F-4DC0-B61E-3157985B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2020824"/>
            <a:ext cx="181965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E9F9A"/>
                </a:solidFill>
                <a:latin typeface="Microsoft YaHei UI"/>
                <a:ea typeface="Microsoft YaHei UI"/>
                <a:cs typeface="Microsoft YaHei UI"/>
              </a:rPr>
              <a:t>CuPy</a:t>
            </a:r>
            <a:endParaRPr sz="1300"/>
          </a:p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E9F9A"/>
                </a:solidFill>
                <a:latin typeface="Microsoft YaHei UI"/>
                <a:ea typeface="Microsoft YaHei UI"/>
                <a:cs typeface="Microsoft YaHei UI"/>
              </a:rPr>
              <a:t>数组、分配、stream</a:t>
            </a:r>
            <a:endParaRPr sz="13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9D9535D-CDDD-4A61-96FC-B119967C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276856"/>
            <a:ext cx="640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667A8"/>
            </a:solidFill>
            <a:prstDash val="solid"/>
            <a:tailEnd type="triangle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D453236-FA92-4E00-8EBE-4930FCD2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20240"/>
            <a:ext cx="2240280" cy="713232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 w="12700">
            <a:solidFill>
              <a:srgbClr val="E8F1F8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4B6C6E3-54A6-47EB-B67B-DF4A4260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2020824"/>
            <a:ext cx="209397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667A8"/>
                </a:solidFill>
                <a:latin typeface="Microsoft YaHei UI"/>
                <a:ea typeface="Microsoft YaHei UI"/>
                <a:cs typeface="Microsoft YaHei UI"/>
              </a:rPr>
              <a:t>cuda_native_cublas</a:t>
            </a:r>
            <a:endParaRPr sz="1300"/>
          </a:p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667A8"/>
                </a:solidFill>
                <a:latin typeface="Microsoft YaHei UI"/>
                <a:ea typeface="Microsoft YaHei UI"/>
                <a:cs typeface="Microsoft YaHei UI"/>
              </a:rPr>
              <a:t>Conv / Pool + cuBLAS</a:t>
            </a:r>
            <a:endParaRPr sz="13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E6E63B0-D151-4025-A3A4-FF6E5816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76856"/>
            <a:ext cx="640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667A8"/>
            </a:solidFill>
            <a:prstDash val="solid"/>
            <a:tailEnd type="triangle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7A56681D-1B03-41A0-B5B6-24AB9096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20240"/>
            <a:ext cx="1965960" cy="713232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2700">
            <a:solidFill>
              <a:srgbClr val="FFF0E8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45E8F15-9D9D-41A7-A5B6-0B1CAB6D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2020824"/>
            <a:ext cx="181965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E07A3F"/>
                </a:solidFill>
                <a:latin typeface="Microsoft YaHei UI"/>
                <a:ea typeface="Microsoft YaHei UI"/>
                <a:cs typeface="Microsoft YaHei UI"/>
              </a:rPr>
              <a:t>Nsight</a:t>
            </a:r>
            <a:endParaRPr sz="1300"/>
          </a:p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E07A3F"/>
                </a:solidFill>
                <a:latin typeface="Microsoft YaHei UI"/>
                <a:ea typeface="Microsoft YaHei UI"/>
                <a:cs typeface="Microsoft YaHei UI"/>
              </a:rPr>
              <a:t>Systems / Compute</a:t>
            </a:r>
            <a:endParaRPr sz="1300"/>
          </a:p>
        </p:txBody>
      </p:sp>
      <p:graphicFrame>
        <p:nvGraphicFramePr>
          <p:cNvPr id="42" name="Table 0"/>
          <p:cNvGraphicFramePr/>
          <p:nvPr/>
        </p:nvGraphicFramePr>
        <p:xfrm>
          <a:off xmlns:a="http://schemas.openxmlformats.org/drawingml/2006/main" x="777240" y="3182112"/>
          <a:ext xmlns:a="http://schemas.openxmlformats.org/drawingml/2006/main" cx="7635240" cy="208483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57400"/>
                <a:gridCol w="1005840"/>
                <a:gridCol w="1280160"/>
                <a:gridCol w="1005840"/>
                <a:gridCol w="2286000"/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阶段一证据</a:t>
                      </a:r>
                      <a:endParaRPr sz="9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P0</a:t>
                      </a:r>
                      <a:endParaRPr sz="9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P1</a:t>
                      </a:r>
                      <a:endParaRPr sz="9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P2</a:t>
                      </a:r>
                      <a:endParaRPr sz="9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结论</a:t>
                      </a:r>
                      <a:endParaRPr sz="9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NumPy 组合/ms</a:t>
                      </a:r>
                      <a:endParaRPr sz="9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0.168</a:t>
                      </a:r>
                      <a:endParaRPr sz="9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12.362</a:t>
                      </a:r>
                      <a:endParaRPr sz="9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12.434</a:t>
                      </a:r>
                      <a:endParaRPr sz="9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小算力场景 CPU 仍可能更快</a:t>
                      </a:r>
                      <a:endParaRPr sz="9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CuPy 组合/ms</a:t>
                      </a:r>
                      <a:endParaRPr sz="9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0.986</a:t>
                      </a:r>
                      <a:endParaRPr sz="9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0.929</a:t>
                      </a:r>
                      <a:endParaRPr sz="9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0.956</a:t>
                      </a:r>
                      <a:endParaRPr sz="9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GPU 封装基线</a:t>
                      </a:r>
                      <a:endParaRPr sz="9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CUDA C / im2col/ms</a:t>
                      </a:r>
                      <a:endParaRPr sz="9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1.314</a:t>
                      </a:r>
                      <a:endParaRPr sz="9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1.412</a:t>
                      </a:r>
                      <a:endParaRPr sz="9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1.475</a:t>
                      </a:r>
                      <a:endParaRPr sz="9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自写路径未全面胜过 CuPy</a:t>
                      </a:r>
                      <a:endParaRPr sz="9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native cuBLAS/ms</a:t>
                      </a:r>
                      <a:endParaRPr sz="9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0.315</a:t>
                      </a:r>
                      <a:endParaRPr sz="9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0.282</a:t>
                      </a:r>
                      <a:endParaRPr sz="9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0.258</a:t>
                      </a:r>
                      <a:endParaRPr sz="9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原生调度 + cuBLAS 更快</a:t>
                      </a:r>
                      <a:endParaRPr sz="9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dX Systems/us</a:t>
                      </a:r>
                      <a:endParaRPr sz="9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—</a:t>
                      </a:r>
                      <a:endParaRPr sz="9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608.3 → 84.7</a:t>
                      </a:r>
                      <a:endParaRPr sz="9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—</a:t>
                      </a:r>
                      <a:endParaRPr sz="9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有效输出窗口优化</a:t>
                      </a:r>
                      <a:endParaRPr sz="9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7C118506-D215-4E7E-A415-B130D4D7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3273552"/>
            <a:ext cx="2377440" cy="187452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2700">
            <a:solidFill>
              <a:srgbClr val="E07A3F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42BAA850-98FC-4F5F-814E-A143D754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3511296"/>
            <a:ext cx="1097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E07A3F"/>
                </a:solidFill>
                <a:latin typeface="Microsoft YaHei UI"/>
                <a:ea typeface="Microsoft YaHei UI"/>
                <a:cs typeface="Microsoft YaHei UI"/>
              </a:rPr>
              <a:t>解释边界</a:t>
            </a:r>
            <a:endParaRPr sz="15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F2B5ADFF-3D78-4207-A8A4-B3C13D9D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3858768"/>
            <a:ext cx="1901952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60">
                <a:solidFill>
                  <a:srgbClr val="1F2933"/>
                </a:solidFill>
                <a:latin typeface="Microsoft YaHei UI"/>
                <a:ea typeface="Microsoft YaHei UI"/>
                <a:cs typeface="Microsoft YaHei UI"/>
              </a:rPr>
              <a:t>cuBLAS 仍负责 GEMM。</a:t>
            </a:r>
            <a:endParaRPr sz="1060"/>
          </a:p>
          <a:p xmlns:a="http://schemas.openxmlformats.org/drawingml/2006/main">
            <a:pPr marL="0" indent="0">
              <a:buNone/>
            </a:pPr>
            <a:r>
              <a:rPr sz="1060">
                <a:solidFill>
                  <a:srgbClr val="1F2933"/>
                </a:solidFill>
                <a:latin typeface="Microsoft YaHei UI"/>
                <a:ea typeface="Microsoft YaHei UI"/>
                <a:cs typeface="Microsoft YaHei UI"/>
              </a:rPr>
              <a:t>收益来自 im2col、原生 stream 调度和较少的 Python 封装。</a:t>
            </a:r>
            <a:endParaRPr sz="1060"/>
          </a:p>
          <a:p xmlns:a="http://schemas.openxmlformats.org/drawingml/2006/main">
            <a:pPr marL="0" indent="0">
              <a:buNone/>
            </a:pPr>
            <a:endParaRPr sz="1060"/>
          </a:p>
          <a:p xmlns:a="http://schemas.openxmlformats.org/drawingml/2006/main">
            <a:pPr marL="0" indent="0">
              <a:buNone/>
            </a:pPr>
            <a:r>
              <a:rPr sz="1060">
                <a:solidFill>
                  <a:srgbClr val="1F2933"/>
                </a:solidFill>
                <a:latin typeface="Microsoft YaHei UI"/>
                <a:ea typeface="Microsoft YaHei UI"/>
                <a:cs typeface="Microsoft YaHei UI"/>
              </a:rPr>
              <a:t>CUDA C / im2col 是独立对照路径，不能与 native cuBLAS 混为一谈。</a:t>
            </a:r>
            <a:endParaRPr sz="106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356D8F91-3C52-4902-8313-293F7A08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532120"/>
            <a:ext cx="10424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20">
                <a:solidFill>
                  <a:srgbClr val="52606D"/>
                </a:solidFill>
                <a:latin typeface="Microsoft YaHei UI"/>
                <a:ea typeface="Microsoft YaHei UI"/>
                <a:cs typeface="Microsoft YaHei UI"/>
              </a:rPr>
              <a:t>原生 Conv/Pool 与 Adam 数学规则保持不变；ResNet 使用 base_width=16，冻结 512 张训练图校准的 BN。</a:t>
            </a:r>
            <a:endParaRPr sz="1220"/>
          </a:p>
        </p:txBody>
      </p:sp>
    </p:spTree>
    <p:extLst>
      <p:ext uri="{BB962C8B-B14F-4D97-AF65-F5344CB8AC3E}">
        <p14:creationId xmlns:p14="http://schemas.microsoft.com/office/powerpoint/2010/main" val="11477655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8D33535-505A-4252-A6A3-A5BEF4AA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7A8"/>
          </a:solidFill>
          <a:ln xmlns:a="http://schemas.openxmlformats.org/drawingml/2006/main" w="12700">
            <a:solidFill>
              <a:srgbClr val="1667A8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1CC3357-0ED1-4173-B51A-8F811B5B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10896"/>
            <a:ext cx="20116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20">
                <a:solidFill>
                  <a:srgbClr val="0E9F9A"/>
                </a:solidFill>
                <a:latin typeface="Microsoft YaHei UI"/>
                <a:ea typeface="Microsoft YaHei UI"/>
                <a:cs typeface="Microsoft YaHei UI"/>
              </a:rPr>
              <a:t>第四周汇报</a:t>
            </a:r>
            <a:endParaRPr sz="1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3ACE5A3-CE0C-4FA1-A5CA-DB01D43D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6928"/>
            <a:ext cx="110185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02A43"/>
                </a:solidFill>
                <a:latin typeface="Microsoft YaHei UI"/>
                <a:ea typeface="Microsoft YaHei UI"/>
                <a:cs typeface="Microsoft YaHei UI"/>
              </a:rPr>
              <a:t>实验设计与公平测量口径</a:t>
            </a:r>
            <a:endParaRPr sz="2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C461F55-48F1-4EC4-B629-0C9083A1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15568"/>
            <a:ext cx="110459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C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1D788DB-8FEE-4079-91C6-E38D2EEF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47104"/>
            <a:ext cx="49377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2606D"/>
                </a:solidFill>
                <a:latin typeface="Microsoft YaHei UI"/>
                <a:ea typeface="Microsoft YaHei UI"/>
                <a:cs typeface="Microsoft YaHei UI"/>
              </a:rPr>
              <a:t>testmyflow · 单机多进程 · RTX 4060 Laptop</a:t>
            </a:r>
            <a:endParaRPr sz="850"/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685800" y="1508760"/>
          <a:ext xmlns:a="http://schemas.openxmlformats.org/drawingml/2006/main" cx="10835640" cy="19202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7280"/>
                <a:gridCol w="3017520"/>
                <a:gridCol w="4069080"/>
                <a:gridCol w="2651760"/>
              </a:tblGrid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任务</a:t>
                      </a:r>
                      <a:endParaRPr sz="11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模型 / 数据</a:t>
                      </a:r>
                      <a:endParaRPr sz="11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正式配置</a:t>
                      </a:r>
                      <a:endParaRPr sz="11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质量指标</a:t>
                      </a:r>
                      <a:endParaRPr sz="11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MNIST</a:t>
                      </a:r>
                      <a:endParaRPr sz="11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784→64→10 MLP</a:t>
                      </a:r>
                      <a:endParaRPr sz="1150">
                        <a:latin typeface="Microsoft YaHei UI"/>
                        <a:ea typeface="Microsoft YaHei UI"/>
                        <a:cs typeface="Microsoft YaHei UI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50,000 train / 10,000 val</a:t>
                      </a:r>
                      <a:endParaRPr sz="11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single；PS JSON/gRPC 2/4；Ring gRPC 2/4</a:t>
                      </a:r>
                      <a:endParaRPr sz="11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验证 accuracy ≥95%</a:t>
                      </a:r>
                      <a:endParaRPr sz="11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DonkeyCar</a:t>
                      </a:r>
                      <a:endParaRPr sz="11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ResNet18 base_width=16</a:t>
                      </a:r>
                      <a:endParaRPr sz="1150">
                        <a:latin typeface="Microsoft YaHei UI"/>
                        <a:ea typeface="Microsoft YaHei UI"/>
                        <a:cs typeface="Microsoft YaHei UI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8,000 / 1,000 / 1,000</a:t>
                      </a:r>
                      <a:endParaRPr sz="11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single；PS JSON/gRPC 2/4；Ring gRPC 2/4</a:t>
                      </a:r>
                      <a:endParaRPr sz="11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angle MAE；相对初始化下降</a:t>
                      </a:r>
                      <a:endParaRPr sz="11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30311CA-8722-4ED5-8CB2-0129B290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931920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67A8"/>
          </a:solidFill>
          <a:ln xmlns:a="http://schemas.openxmlformats.org/drawingml/2006/main" w="12700">
            <a:solidFill>
              <a:srgbClr val="1667A8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2E30715-719C-4E29-ADDA-7F93F8CC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86200"/>
            <a:ext cx="13258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2A43"/>
                </a:solidFill>
                <a:latin typeface="Microsoft YaHei UI"/>
                <a:ea typeface="Microsoft YaHei UI"/>
                <a:cs typeface="Microsoft YaHei UI"/>
              </a:rPr>
              <a:t>同一初始点</a:t>
            </a:r>
            <a:endParaRPr sz="13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FA1BCF4-0A12-4A17-87DB-357A2614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3886200"/>
            <a:ext cx="80467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3"/>
                </a:solidFill>
                <a:latin typeface="Microsoft YaHei UI"/>
                <a:ea typeface="Microsoft YaHei UI"/>
                <a:cs typeface="Microsoft YaHei UI"/>
              </a:rPr>
              <a:t>seed=0、FP32、统一数据顺序和 checkpoint</a:t>
            </a:r>
            <a:endParaRPr sz="125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25F3158-573B-4BD5-B277-28AF2FCC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434840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12700">
            <a:solidFill>
              <a:srgbClr val="0E9F9A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8EC17ED-37BF-4E86-AAB8-4FD9B8C3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389120"/>
            <a:ext cx="13258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2A43"/>
                </a:solidFill>
                <a:latin typeface="Microsoft YaHei UI"/>
                <a:ea typeface="Microsoft YaHei UI"/>
                <a:cs typeface="Microsoft YaHei UI"/>
              </a:rPr>
              <a:t>同一计时口径</a:t>
            </a:r>
            <a:endParaRPr sz="13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1474A93-F254-4F8E-8AB9-11851556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4389120"/>
            <a:ext cx="80467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3"/>
                </a:solidFill>
                <a:latin typeface="Microsoft YaHei UI"/>
                <a:ea typeface="Microsoft YaHei UI"/>
                <a:cs typeface="Microsoft YaHei UI"/>
              </a:rPr>
              <a:t>完整第 1 个 epoch，3 次独立性能重复，取中位数</a:t>
            </a:r>
            <a:endParaRPr sz="12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E2F4974-D139-4F4F-B021-B370F652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937760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67A8"/>
          </a:solidFill>
          <a:ln xmlns:a="http://schemas.openxmlformats.org/drawingml/2006/main" w="12700">
            <a:solidFill>
              <a:srgbClr val="1667A8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D5DE7A39-7B0D-4DA3-BD53-D6651FB1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892040"/>
            <a:ext cx="13258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2A43"/>
                </a:solidFill>
                <a:latin typeface="Microsoft YaHei UI"/>
                <a:ea typeface="Microsoft YaHei UI"/>
                <a:cs typeface="Microsoft YaHei UI"/>
              </a:rPr>
              <a:t>同一资源边界</a:t>
            </a:r>
            <a:endParaRPr sz="13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F4ACC31-53AC-4CBA-B8B9-5D2863A4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4892040"/>
            <a:ext cx="80467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3"/>
                </a:solidFill>
                <a:latin typeface="Microsoft YaHei UI"/>
                <a:ea typeface="Microsoft YaHei UI"/>
                <a:cs typeface="Microsoft YaHei UI"/>
              </a:rPr>
              <a:t>所有 Worker 共享一张 RTX 4060 Laptop GPU</a:t>
            </a:r>
            <a:endParaRPr sz="125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54F6B494-E6F3-4229-9D8E-450006D5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440680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12700">
            <a:solidFill>
              <a:srgbClr val="0E9F9A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2D02B8B-4F57-45DE-AB99-F9D02B33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394960"/>
            <a:ext cx="13258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2A43"/>
                </a:solidFill>
                <a:latin typeface="Microsoft YaHei UI"/>
                <a:ea typeface="Microsoft YaHei UI"/>
                <a:cs typeface="Microsoft YaHei UI"/>
              </a:rPr>
              <a:t>BN 控制</a:t>
            </a:r>
            <a:endParaRPr sz="13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FA2A697-0104-4064-841B-234C22EC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5394960"/>
            <a:ext cx="80467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3"/>
                </a:solidFill>
                <a:latin typeface="Microsoft YaHei UI"/>
                <a:ea typeface="Microsoft YaHei UI"/>
                <a:cs typeface="Microsoft YaHei UI"/>
              </a:rPr>
              <a:t>仅用 512 张训练图校准 running mean/variance，随后冻结</a:t>
            </a:r>
            <a:endParaRPr sz="12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7E40A62-C9F7-471C-BF74-B763E8C2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977640"/>
            <a:ext cx="2057400" cy="155448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2700">
            <a:solidFill>
              <a:srgbClr val="E07A3F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42F281E-9966-4CC4-8E8D-5E51217E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24528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E07A3F"/>
                </a:solidFill>
                <a:latin typeface="Microsoft YaHei UI"/>
                <a:ea typeface="Microsoft YaHei UI"/>
                <a:cs typeface="Microsoft YaHei UI"/>
              </a:rPr>
              <a:t>注意</a:t>
            </a:r>
            <a:endParaRPr sz="15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5927D8EC-50F1-44C6-ACDE-4FF616FE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590288"/>
            <a:ext cx="1554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F2933"/>
                </a:solidFill>
                <a:latin typeface="Microsoft YaHei UI"/>
                <a:ea typeface="Microsoft YaHei UI"/>
                <a:cs typeface="Microsoft YaHei UI"/>
              </a:rPr>
              <a:t>这是单机回环模拟。</a:t>
            </a:r>
            <a:endParaRPr sz="1150"/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F2933"/>
                </a:solidFill>
                <a:latin typeface="Microsoft YaHei UI"/>
                <a:ea typeface="Microsoft YaHei UI"/>
                <a:cs typeface="Microsoft YaHei UI"/>
              </a:rPr>
              <a:t>通信结果不能直接外推到多机网络。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5258786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F3882F9-78C8-4C32-9CD4-91C75BF8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7A8"/>
          </a:solidFill>
          <a:ln xmlns:a="http://schemas.openxmlformats.org/drawingml/2006/main" w="12700">
            <a:solidFill>
              <a:srgbClr val="1667A8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0D26178-0A8C-4A1B-A932-EF791063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10896"/>
            <a:ext cx="20116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20">
                <a:solidFill>
                  <a:srgbClr val="0E9F9A"/>
                </a:solidFill>
                <a:latin typeface="Microsoft YaHei UI"/>
                <a:ea typeface="Microsoft YaHei UI"/>
                <a:cs typeface="Microsoft YaHei UI"/>
              </a:rPr>
              <a:t>第四周汇报</a:t>
            </a:r>
            <a:endParaRPr sz="1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AE4CF93-CAB5-4B8A-930D-9A246F6E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6928"/>
            <a:ext cx="110185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02A43"/>
                </a:solidFill>
                <a:latin typeface="Microsoft YaHei UI"/>
                <a:ea typeface="Microsoft YaHei UI"/>
                <a:cs typeface="Microsoft YaHei UI"/>
              </a:rPr>
              <a:t>PS 结果：gRPC 大幅降低通信开销</a:t>
            </a:r>
            <a:endParaRPr sz="2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85C77E6-4EC3-4026-AEDB-33F1844B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15568"/>
            <a:ext cx="110459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C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443F572-A518-4E65-B722-149840CE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47104"/>
            <a:ext cx="49377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2606D"/>
                </a:solidFill>
                <a:latin typeface="Microsoft YaHei UI"/>
                <a:ea typeface="Microsoft YaHei UI"/>
                <a:cs typeface="Microsoft YaHei UI"/>
              </a:rPr>
              <a:t>testmyflow · 单机多进程 · RTX 4060 Laptop</a:t>
            </a:r>
            <a:endParaRPr sz="850"/>
          </a:p>
        </p:txBody>
      </p:sp>
      <p:graphicFrame>
        <p:nvGraphicFramePr>
          <p:cNvPr id="21" name="Table 0"/>
          <p:cNvGraphicFramePr/>
          <p:nvPr/>
        </p:nvGraphicFramePr>
        <p:xfrm>
          <a:off xmlns:a="http://schemas.openxmlformats.org/drawingml/2006/main" x="658368" y="1371600"/>
          <a:ext xmlns:a="http://schemas.openxmlformats.org/drawingml/2006/main" cx="7818120" cy="41605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54480"/>
                <a:gridCol w="731520"/>
                <a:gridCol w="1143000"/>
                <a:gridCol w="1143000"/>
                <a:gridCol w="1143000"/>
                <a:gridCol w="1325880"/>
              </a:tblGrid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 b="1">
                          <a:solidFill>
                            <a:srgbClr val="FFFFFF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任务 / 协议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 b="1">
                          <a:solidFill>
                            <a:srgbClr val="FFFFFF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Worker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 b="1">
                          <a:solidFill>
                            <a:srgbClr val="FFFFFF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epoch/s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 b="1">
                          <a:solidFill>
                            <a:srgbClr val="FFFFFF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计算/s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 b="1">
                          <a:solidFill>
                            <a:srgbClr val="FFFFFF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通信/s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 b="1">
                          <a:solidFill>
                            <a:srgbClr val="FFFFFF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正文 MB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MNIST JSON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2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33.217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0.993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28.490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1213.3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MNIST gRPC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2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12.207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0.810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5.850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318.3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MNIST JSON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4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52.964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1.873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42.595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2347.8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MNIST gRPC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4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15.399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0.962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6.885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636.6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ResNet JSON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2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273.579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18.125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244.177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3872.9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ResNet gRPC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2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14.073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6.257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3.491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698.8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ResNet JSON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4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462.667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18.905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416.378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7737.4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ResNet gRPC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4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16.936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6.312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5.068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3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1397.7</a:t>
                      </a:r>
                      <a:endParaRPr sz="103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D5A0857-F235-4276-BCCC-492F72DB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1536192"/>
            <a:ext cx="2331720" cy="109728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5F5F3"/>
          </a:solidFill>
          <a:ln xmlns:a="http://schemas.openxmlformats.org/drawingml/2006/main" w="12700">
            <a:solidFill>
              <a:srgbClr val="0E9F9A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2734FF2-698A-4ECC-8F7D-B9C4E5F7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1764792"/>
            <a:ext cx="18745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E9F9A"/>
                </a:solidFill>
                <a:latin typeface="Microsoft YaHei UI"/>
                <a:ea typeface="Microsoft YaHei UI"/>
                <a:cs typeface="Microsoft YaHei UI"/>
              </a:rPr>
              <a:t>MNIST gRPC / JSON</a:t>
            </a:r>
            <a:endParaRPr sz="13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C620478-3FEE-4DC0-B157-3A05D571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048256"/>
            <a:ext cx="1783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02A43"/>
                </a:solidFill>
                <a:latin typeface="Microsoft YaHei UI"/>
                <a:ea typeface="Microsoft YaHei UI"/>
                <a:cs typeface="Microsoft YaHei UI"/>
              </a:rPr>
              <a:t>2 Worker：2.72×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02A43"/>
                </a:solidFill>
                <a:latin typeface="Microsoft YaHei UI"/>
                <a:ea typeface="Microsoft YaHei UI"/>
                <a:cs typeface="Microsoft YaHei UI"/>
              </a:rPr>
              <a:t>4 Worker：3.44×</a:t>
            </a:r>
            <a:endParaRPr sz="14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3960B3AA-DD2B-468D-911F-3A9AC699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907792"/>
            <a:ext cx="2331720" cy="109728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 w="12700">
            <a:solidFill>
              <a:srgbClr val="1667A8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EA61158C-F453-4EF2-9274-CDE05EED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3136392"/>
            <a:ext cx="18745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667A8"/>
                </a:solidFill>
                <a:latin typeface="Microsoft YaHei UI"/>
                <a:ea typeface="Microsoft YaHei UI"/>
                <a:cs typeface="Microsoft YaHei UI"/>
              </a:rPr>
              <a:t>ResNet gRPC / JSON</a:t>
            </a:r>
            <a:endParaRPr sz="13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026BED3-1437-43DB-B253-31A36117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3419856"/>
            <a:ext cx="1783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02A43"/>
                </a:solidFill>
                <a:latin typeface="Microsoft YaHei UI"/>
                <a:ea typeface="Microsoft YaHei UI"/>
                <a:cs typeface="Microsoft YaHei UI"/>
              </a:rPr>
              <a:t>2 Worker：19.44×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02A43"/>
                </a:solidFill>
                <a:latin typeface="Microsoft YaHei UI"/>
                <a:ea typeface="Microsoft YaHei UI"/>
                <a:cs typeface="Microsoft YaHei UI"/>
              </a:rPr>
              <a:t>4 Worker：27.33×</a:t>
            </a:r>
            <a:endParaRPr sz="14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14406E6-E80D-434C-8E43-ABD125D3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443984"/>
            <a:ext cx="22402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20">
                <a:solidFill>
                  <a:srgbClr val="52606D"/>
                </a:solidFill>
                <a:latin typeface="Microsoft YaHei UI"/>
                <a:ea typeface="Microsoft YaHei UI"/>
                <a:cs typeface="Microsoft YaHei UI"/>
              </a:rPr>
              <a:t>PS 的中心聚合逻辑保留；优化主要减少 protobuf 数组路径中的拷贝、序列化和确认等待。</a:t>
            </a:r>
            <a:endParaRPr sz="1120"/>
          </a:p>
        </p:txBody>
      </p:sp>
    </p:spTree>
    <p:extLst>
      <p:ext uri="{BB962C8B-B14F-4D97-AF65-F5344CB8AC3E}">
        <p14:creationId xmlns:p14="http://schemas.microsoft.com/office/powerpoint/2010/main" val="7653995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97533AB-AF83-4A8C-9EC7-FBB1425F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7A8"/>
          </a:solidFill>
          <a:ln xmlns:a="http://schemas.openxmlformats.org/drawingml/2006/main" w="12700">
            <a:solidFill>
              <a:srgbClr val="1667A8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C797912-A18D-4F09-AB72-2228B1B8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10896"/>
            <a:ext cx="20116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20">
                <a:solidFill>
                  <a:srgbClr val="0E9F9A"/>
                </a:solidFill>
                <a:latin typeface="Microsoft YaHei UI"/>
                <a:ea typeface="Microsoft YaHei UI"/>
                <a:cs typeface="Microsoft YaHei UI"/>
              </a:rPr>
              <a:t>第四周汇报</a:t>
            </a:r>
            <a:endParaRPr sz="1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D753423-5E21-4760-85A4-5DAA1551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6928"/>
            <a:ext cx="110185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02A43"/>
                </a:solidFill>
                <a:latin typeface="Microsoft YaHei UI"/>
                <a:ea typeface="Microsoft YaHei UI"/>
                <a:cs typeface="Microsoft YaHei UI"/>
              </a:rPr>
              <a:t>Ring AllReduce 结果：通信更均匀，单卡仍限制扩展</a:t>
            </a:r>
            <a:endParaRPr sz="2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74DA0BD-F8FF-47CA-9962-09020BD0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15568"/>
            <a:ext cx="110459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C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11683A5-3176-4521-98CA-A1AF48F5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47104"/>
            <a:ext cx="49377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2606D"/>
                </a:solidFill>
                <a:latin typeface="Microsoft YaHei UI"/>
                <a:ea typeface="Microsoft YaHei UI"/>
                <a:cs typeface="Microsoft YaHei UI"/>
              </a:rPr>
              <a:t>testmyflow · 单机多进程 · RTX 4060 Laptop</a:t>
            </a:r>
            <a:endParaRPr sz="850"/>
          </a:p>
        </p:txBody>
      </p:sp>
      <p:graphicFrame>
        <p:nvGraphicFramePr>
          <p:cNvPr id="21" name="Table 0"/>
          <p:cNvGraphicFramePr/>
          <p:nvPr/>
        </p:nvGraphicFramePr>
        <p:xfrm>
          <a:off xmlns:a="http://schemas.openxmlformats.org/drawingml/2006/main" x="685800" y="1417320"/>
          <a:ext xmlns:a="http://schemas.openxmlformats.org/drawingml/2006/main" cx="5486400" cy="22402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658368"/>
                <a:gridCol w="896112"/>
                <a:gridCol w="914400"/>
                <a:gridCol w="914400"/>
                <a:gridCol w="914400"/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任务</a:t>
                      </a:r>
                      <a:endParaRPr sz="10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Worker</a:t>
                      </a:r>
                      <a:endParaRPr sz="10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epoch/s</a:t>
                      </a:r>
                      <a:endParaRPr sz="10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计算/s</a:t>
                      </a:r>
                      <a:endParaRPr sz="10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通信/s</a:t>
                      </a:r>
                      <a:endParaRPr sz="10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加速比</a:t>
                      </a:r>
                      <a:endParaRPr sz="10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MNIST</a:t>
                      </a:r>
                      <a:endParaRPr sz="10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2</a:t>
                      </a:r>
                      <a:endParaRPr sz="10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3.369</a:t>
                      </a:r>
                      <a:endParaRPr sz="10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0.725</a:t>
                      </a:r>
                      <a:endParaRPr sz="10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0.820</a:t>
                      </a:r>
                      <a:endParaRPr sz="10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0.411</a:t>
                      </a:r>
                      <a:endParaRPr sz="10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MNIST</a:t>
                      </a:r>
                      <a:endParaRPr sz="10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4</a:t>
                      </a:r>
                      <a:endParaRPr sz="10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5.684</a:t>
                      </a:r>
                      <a:endParaRPr sz="10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1.069</a:t>
                      </a:r>
                      <a:endParaRPr sz="10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2.184</a:t>
                      </a:r>
                      <a:endParaRPr sz="10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0.244</a:t>
                      </a:r>
                      <a:endParaRPr sz="10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ResNet18</a:t>
                      </a:r>
                      <a:endParaRPr sz="10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2</a:t>
                      </a:r>
                      <a:endParaRPr sz="10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13.187</a:t>
                      </a:r>
                      <a:endParaRPr sz="10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7.592</a:t>
                      </a:r>
                      <a:endParaRPr sz="10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1.558</a:t>
                      </a:r>
                      <a:endParaRPr sz="10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0.686</a:t>
                      </a:r>
                      <a:endParaRPr sz="10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E8F1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ResNet18</a:t>
                      </a:r>
                      <a:endParaRPr sz="10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4</a:t>
                      </a:r>
                      <a:endParaRPr sz="10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15.422</a:t>
                      </a:r>
                      <a:endParaRPr sz="10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7.726</a:t>
                      </a:r>
                      <a:endParaRPr sz="10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2.066</a:t>
                      </a:r>
                      <a:endParaRPr sz="10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1F2933"/>
                          </a:solidFill>
                          <a:latin typeface="Microsoft YaHei UI"/>
                          <a:ea typeface="Microsoft YaHei UI"/>
                          <a:cs typeface="Microsoft YaHei UI"/>
                        </a:rPr>
                        <a:t>0.587</a:t>
                      </a:r>
                      <a:endParaRPr sz="1050">
                        <a:latin typeface="Microsoft YaHei UI"/>
                        <a:ea typeface="Microsoft YaHei UI"/>
                        <a:cs typeface="Microsoft YaHei UI"/>
                      </a:endParaRPr>
                    </a:p>
                  </a:txBody>
                  <a:tcPr marL="54864" marR="54864" marT="54864" marB="54864" anchor="ctr">
                    <a:lnL w="7620" cmpd="sng">
                      <a:solidFill>
                        <a:srgbClr val="D9E2EC"/>
                      </a:solidFill>
                      <a:prstDash val="solid"/>
                    </a:lnL>
                    <a:lnR w="7620" cmpd="sng">
                      <a:solidFill>
                        <a:srgbClr val="D9E2EC"/>
                      </a:solidFill>
                      <a:prstDash val="solid"/>
                    </a:lnR>
                    <a:lnT w="7620" cmpd="sng">
                      <a:solidFill>
                        <a:srgbClr val="D9E2EC"/>
                      </a:solidFill>
                      <a:prstDash val="solid"/>
                    </a:lnT>
                    <a:lnB w="762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Chart 0"/>
          <p:cNvGraphicFramePr/>
          <p:nvPr/>
        </p:nvGraphicFramePr>
        <p:xfrm>
          <a:off xmlns:a="http://schemas.openxmlformats.org/drawingml/2006/main" x="6446520" y="1335024"/>
          <a:ext xmlns:a="http://schemas.openxmlformats.org/drawingml/2006/main" cx="5074920" cy="288036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dcd2f30fa584353"/>
          </a:graphicData>
        </a:graphic>
      </p:graphicFrame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63096149-B2AC-4F66-81CB-B33CED43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60520"/>
            <a:ext cx="5166360" cy="1143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5F5F3"/>
          </a:solidFill>
          <a:ln xmlns:a="http://schemas.openxmlformats.org/drawingml/2006/main" w="12700">
            <a:solidFill>
              <a:srgbClr val="0E9F9A"/>
            </a:solidFill>
            <a:prstDash val="solid"/>
          </a:ln>
        </p:spPr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746FE886-99F9-49BD-9FFD-B9BB110B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4407408"/>
            <a:ext cx="14173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E9F9A"/>
                </a:solidFill>
                <a:latin typeface="Microsoft YaHei UI"/>
                <a:ea typeface="Microsoft YaHei UI"/>
                <a:cs typeface="Microsoft YaHei UI"/>
              </a:rPr>
              <a:t>Ring 的工程优势</a:t>
            </a:r>
            <a:endParaRPr sz="125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596D9D50-8593-47AD-A212-6C502B3E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4279392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40">
                <a:solidFill>
                  <a:srgbClr val="1F2933"/>
                </a:solidFill>
                <a:latin typeface="Microsoft YaHei UI"/>
                <a:ea typeface="Microsoft YaHei UI"/>
                <a:cs typeface="Microsoft YaHei UI"/>
              </a:rPr>
              <a:t>没有 PS 中心带宽热点；每个 rank 只和相邻节点交换分块，满足 Split → ScatterReduce → AllGather。</a:t>
            </a:r>
            <a:endParaRPr sz="114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5B09986B-44ED-4D4D-975E-77BDE5AF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526280"/>
            <a:ext cx="5074920" cy="77724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2700">
            <a:solidFill>
              <a:srgbClr val="E07A3F"/>
            </a:solidFill>
            <a:prstDash val="solid"/>
          </a:ln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AF3AF8EA-D39C-403C-A6B1-9FE9330B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4754880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60">
                <a:solidFill>
                  <a:srgbClr val="1F2933"/>
                </a:solidFill>
                <a:latin typeface="Microsoft YaHei UI"/>
                <a:ea typeface="Microsoft YaHei UI"/>
                <a:cs typeface="Microsoft YaHei UI"/>
              </a:rPr>
              <a:t>瓶颈判断：多进程共享同一 GPU，通信更均匀但计算资源没有增加；进程调度与同步开销仍高于单进程。</a:t>
            </a:r>
            <a:endParaRPr sz="1160"/>
          </a:p>
        </p:txBody>
      </p:sp>
    </p:spTree>
    <p:extLst>
      <p:ext uri="{BB962C8B-B14F-4D97-AF65-F5344CB8AC3E}">
        <p14:creationId xmlns:p14="http://schemas.microsoft.com/office/powerpoint/2010/main" val="11809190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7E93585-3735-4F86-9448-139AFA41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7A8"/>
          </a:solidFill>
          <a:ln xmlns:a="http://schemas.openxmlformats.org/drawingml/2006/main" w="12700">
            <a:solidFill>
              <a:srgbClr val="1667A8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7F29960-9138-4199-85D5-49909E1F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10896"/>
            <a:ext cx="20116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20">
                <a:solidFill>
                  <a:srgbClr val="0E9F9A"/>
                </a:solidFill>
                <a:latin typeface="Microsoft YaHei UI"/>
                <a:ea typeface="Microsoft YaHei UI"/>
                <a:cs typeface="Microsoft YaHei UI"/>
              </a:rPr>
              <a:t>第四周汇报</a:t>
            </a:r>
            <a:endParaRPr sz="1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623CF9C-246C-4545-9B48-09F1B5E5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6928"/>
            <a:ext cx="110185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02A43"/>
                </a:solidFill>
                <a:latin typeface="Microsoft YaHei UI"/>
                <a:ea typeface="Microsoft YaHei UI"/>
                <a:cs typeface="Microsoft YaHei UI"/>
              </a:rPr>
              <a:t>优化前后对照：优化版作为主结果</a:t>
            </a:r>
            <a:endParaRPr sz="2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DCB3FF0-995C-4842-8598-6AFFAC80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15568"/>
            <a:ext cx="110459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C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63952AC-3CD6-4AAB-9E9A-2D953342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47104"/>
            <a:ext cx="49377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2606D"/>
                </a:solidFill>
                <a:latin typeface="Microsoft YaHei UI"/>
                <a:ea typeface="Microsoft YaHei UI"/>
                <a:cs typeface="Microsoft YaHei UI"/>
              </a:rPr>
              <a:t>testmyflow · 单机多进程 · RTX 4060 Laptop</a:t>
            </a:r>
            <a:endParaRPr sz="850"/>
          </a:p>
        </p:txBody>
      </p:sp>
      <p:graphicFrame>
        <p:nvGraphicFramePr>
          <p:cNvPr id="27" name="Chart 0"/>
          <p:cNvGraphicFramePr/>
          <p:nvPr/>
        </p:nvGraphicFramePr>
        <p:xfrm>
          <a:off xmlns:a="http://schemas.openxmlformats.org/drawingml/2006/main" x="640080" y="1371600"/>
          <a:ext xmlns:a="http://schemas.openxmlformats.org/drawingml/2006/main" cx="7315200" cy="416052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5ec0764459f45d2"/>
          </a:graphicData>
        </a:graphic>
      </p:graphicFrame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AF0D83A-1B8C-4715-9117-41D4337B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1481328"/>
            <a:ext cx="1417320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5F5F3"/>
          </a:solidFill>
          <a:ln xmlns:a="http://schemas.openxmlformats.org/drawingml/2006/main" w="12700">
            <a:solidFill>
              <a:srgbClr val="D9E2EC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DC4D3DC-5FF4-47B2-BC65-CE2F4366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064" y="1627632"/>
            <a:ext cx="112471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0E9F9A"/>
                </a:solidFill>
                <a:latin typeface="Microsoft YaHei UI"/>
                <a:ea typeface="Microsoft YaHei UI"/>
                <a:cs typeface="Microsoft YaHei UI"/>
              </a:rPr>
              <a:t>42.36%</a:t>
            </a:r>
            <a:endParaRPr sz="24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92B918C-0EC2-4DF3-8835-54FCBF8C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488" y="2048256"/>
            <a:ext cx="119786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2606D"/>
                </a:solidFill>
                <a:latin typeface="Microsoft YaHei UI"/>
                <a:ea typeface="Microsoft YaHei UI"/>
                <a:cs typeface="Microsoft YaHei UI"/>
              </a:rPr>
              <a:t>gRPC 分布式整体中位下降</a:t>
            </a:r>
            <a:endParaRPr sz="105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98A3C8D-D298-43B2-94A4-EFAC6D6D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1481328"/>
            <a:ext cx="1417320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 w="12700">
            <a:solidFill>
              <a:srgbClr val="D9E2EC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6A95C24-A81D-4580-BC3E-3D4DC597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984" y="1627632"/>
            <a:ext cx="112471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667A8"/>
                </a:solidFill>
                <a:latin typeface="Microsoft YaHei UI"/>
                <a:ea typeface="Microsoft YaHei UI"/>
                <a:cs typeface="Microsoft YaHei UI"/>
              </a:rPr>
              <a:t>81.22%</a:t>
            </a:r>
            <a:endParaRPr sz="24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FBECBA5-D177-4CC9-9A48-C5D0D201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2408" y="2048256"/>
            <a:ext cx="119786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2606D"/>
                </a:solidFill>
                <a:latin typeface="Microsoft YaHei UI"/>
                <a:ea typeface="Microsoft YaHei UI"/>
                <a:cs typeface="Microsoft YaHei UI"/>
              </a:rPr>
              <a:t>PS gRPC 中位下降</a:t>
            </a:r>
            <a:endParaRPr sz="10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05BED60-793D-4B5A-9D6F-A9B253F0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788920"/>
            <a:ext cx="1417320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2700">
            <a:solidFill>
              <a:srgbClr val="D9E2EC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C61ADCA-E27B-476A-95E8-554EE98D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064" y="2935224"/>
            <a:ext cx="112471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E07A3F"/>
                </a:solidFill>
                <a:latin typeface="Microsoft YaHei UI"/>
                <a:ea typeface="Microsoft YaHei UI"/>
                <a:cs typeface="Microsoft YaHei UI"/>
              </a:rPr>
              <a:t>8.79%</a:t>
            </a:r>
            <a:endParaRPr sz="24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F2ED449-9505-4EB1-B6DF-32CFD295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488" y="3355848"/>
            <a:ext cx="119786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2606D"/>
                </a:solidFill>
                <a:latin typeface="Microsoft YaHei UI"/>
                <a:ea typeface="Microsoft YaHei UI"/>
                <a:cs typeface="Microsoft YaHei UI"/>
              </a:rPr>
              <a:t>Ring 中位下降</a:t>
            </a:r>
            <a:endParaRPr sz="105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F4EB1A6-7CA3-4BD9-B7FE-19226E78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2788920"/>
            <a:ext cx="1417320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 w="12700">
            <a:solidFill>
              <a:srgbClr val="D9E2EC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DA0DFED-E63D-465C-A2E8-1EA795BE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984" y="2935224"/>
            <a:ext cx="112471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667A8"/>
                </a:solidFill>
                <a:latin typeface="Microsoft YaHei UI"/>
                <a:ea typeface="Microsoft YaHei UI"/>
                <a:cs typeface="Microsoft YaHei UI"/>
              </a:rPr>
              <a:t>&lt; 1</a:t>
            </a:r>
            <a:endParaRPr sz="24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4C9F485B-DEF4-4FC2-A5BA-2C50DF06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2408" y="3355848"/>
            <a:ext cx="119786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2606D"/>
                </a:solidFill>
                <a:latin typeface="Microsoft YaHei UI"/>
                <a:ea typeface="Microsoft YaHei UI"/>
                <a:cs typeface="Microsoft YaHei UI"/>
              </a:rPr>
              <a:t>分布式相对单进程加速比</a:t>
            </a:r>
            <a:endParaRPr sz="105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058D1920-EF54-4043-A9EE-9F71241A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343400"/>
            <a:ext cx="31546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1F2933"/>
                </a:solidFill>
                <a:latin typeface="Microsoft YaHei UI"/>
                <a:ea typeface="Microsoft YaHei UI"/>
                <a:cs typeface="Microsoft YaHei UI"/>
              </a:rPr>
              <a:t>判定：8 个 gRPC/protobuf 分布式配置均比原基线快，质量 14/14、全量回归 204 项通过，因此优化版作为主结果；原基线保留作历史参照。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10259757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AC8A2DE-9D2E-4C43-90EF-6379B0F3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7A8"/>
          </a:solidFill>
          <a:ln xmlns:a="http://schemas.openxmlformats.org/drawingml/2006/main" w="12700">
            <a:solidFill>
              <a:srgbClr val="1667A8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CBE7211-F7A1-4C0F-800B-267E2487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10896"/>
            <a:ext cx="20116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20">
                <a:solidFill>
                  <a:srgbClr val="0E9F9A"/>
                </a:solidFill>
                <a:latin typeface="Microsoft YaHei UI"/>
                <a:ea typeface="Microsoft YaHei UI"/>
                <a:cs typeface="Microsoft YaHei UI"/>
              </a:rPr>
              <a:t>第四周汇报</a:t>
            </a:r>
            <a:endParaRPr sz="1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F9F2B28-C6B1-40D4-9871-D677B054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6928"/>
            <a:ext cx="110185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02A43"/>
                </a:solidFill>
                <a:latin typeface="Microsoft YaHei UI"/>
                <a:ea typeface="Microsoft YaHei UI"/>
                <a:cs typeface="Microsoft YaHei UI"/>
              </a:rPr>
              <a:t>验收结论与需要继续说明的限制</a:t>
            </a:r>
            <a:endParaRPr sz="2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1D64051-1BFF-4CF7-A441-3710EB26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15568"/>
            <a:ext cx="110459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C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98043DD-6C1A-4674-A98D-1674E3ED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47104"/>
            <a:ext cx="49377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2606D"/>
                </a:solidFill>
                <a:latin typeface="Microsoft YaHei UI"/>
                <a:ea typeface="Microsoft YaHei UI"/>
                <a:cs typeface="Microsoft YaHei UI"/>
              </a:rPr>
              <a:t>testmyflow · 单机多进程 · RTX 4060 Laptop</a:t>
            </a:r>
            <a:endParaRPr sz="8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6998118-96EB-4189-8E34-C6EF1730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17320"/>
            <a:ext cx="4892040" cy="4572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3FDE0CC-8C40-46FD-97B1-100C0249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1554480"/>
            <a:ext cx="33375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3"/>
                </a:solidFill>
                <a:latin typeface="Microsoft YaHei UI"/>
                <a:ea typeface="Microsoft YaHei UI"/>
                <a:cs typeface="Microsoft YaHei UI"/>
              </a:rPr>
              <a:t>PS：MNIST + DonkeyCar</a:t>
            </a:r>
            <a:endParaRPr sz="12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5BF149D-5719-491D-AFA0-8A3B016A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536192"/>
            <a:ext cx="10515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0E9F9A"/>
                </a:solidFill>
                <a:latin typeface="Microsoft YaHei UI"/>
                <a:ea typeface="Microsoft YaHei UI"/>
                <a:cs typeface="Microsoft YaHei UI"/>
              </a:rPr>
              <a:t>已完成</a:t>
            </a:r>
            <a:endParaRPr sz="11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8B9253C-5332-480D-9579-BA4E0946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75688"/>
            <a:ext cx="4892040" cy="4572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5953EA4-CB88-4F36-A92F-1831734A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212848"/>
            <a:ext cx="33375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3"/>
                </a:solidFill>
                <a:latin typeface="Microsoft YaHei UI"/>
                <a:ea typeface="Microsoft YaHei UI"/>
                <a:cs typeface="Microsoft YaHei UI"/>
              </a:rPr>
              <a:t>Ring：Split / ScatterReduce / AllGather</a:t>
            </a:r>
            <a:endParaRPr sz="12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F419876-EF4B-4FD4-8DF6-2D0DACEB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194560"/>
            <a:ext cx="10515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0E9F9A"/>
                </a:solidFill>
                <a:latin typeface="Microsoft YaHei UI"/>
                <a:ea typeface="Microsoft YaHei UI"/>
                <a:cs typeface="Microsoft YaHei UI"/>
              </a:rPr>
              <a:t>已完成</a:t>
            </a:r>
            <a:endParaRPr sz="11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1CE79CA-5FAB-4361-8472-4E37A3C4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34056"/>
            <a:ext cx="4892040" cy="4572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61BAB8F-0D55-4B15-9D2A-BF5A7C8C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871216"/>
            <a:ext cx="33375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3"/>
                </a:solidFill>
                <a:latin typeface="Microsoft YaHei UI"/>
                <a:ea typeface="Microsoft YaHei UI"/>
                <a:cs typeface="Microsoft YaHei UI"/>
              </a:rPr>
              <a:t>计算 / 通信 / 消息量 / 质量 / 加速比</a:t>
            </a:r>
            <a:endParaRPr sz="12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4BC62E8-AEA9-4300-BDCE-890541E4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852928"/>
            <a:ext cx="10515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0E9F9A"/>
                </a:solidFill>
                <a:latin typeface="Microsoft YaHei UI"/>
                <a:ea typeface="Microsoft YaHei UI"/>
                <a:cs typeface="Microsoft YaHei UI"/>
              </a:rPr>
              <a:t>已记录</a:t>
            </a:r>
            <a:endParaRPr sz="11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E340187-4CD9-469D-BE41-33488B26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92424"/>
            <a:ext cx="4892040" cy="4572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66FE403-6FC0-482F-8115-D6E255F4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529584"/>
            <a:ext cx="33375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3"/>
                </a:solidFill>
                <a:latin typeface="Microsoft YaHei UI"/>
                <a:ea typeface="Microsoft YaHei UI"/>
                <a:cs typeface="Microsoft YaHei UI"/>
              </a:rPr>
              <a:t>Nsight Systems / Compute</a:t>
            </a:r>
            <a:endParaRPr sz="12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72C8CBF-2F68-4E54-AB3D-A830966A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511296"/>
            <a:ext cx="10515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0E9F9A"/>
                </a:solidFill>
                <a:latin typeface="Microsoft YaHei UI"/>
                <a:ea typeface="Microsoft YaHei UI"/>
                <a:cs typeface="Microsoft YaHei UI"/>
              </a:rPr>
              <a:t>已留档</a:t>
            </a:r>
            <a:endParaRPr sz="11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BA1C44F7-A376-47D5-9F4C-AAAE846A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50792"/>
            <a:ext cx="4892040" cy="4572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2700">
            <a:solidFill>
              <a:srgbClr val="E07A3F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B546137-1ACE-48ED-8006-ABC53515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4187952"/>
            <a:ext cx="33375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3"/>
                </a:solidFill>
                <a:latin typeface="Microsoft YaHei UI"/>
                <a:ea typeface="Microsoft YaHei UI"/>
                <a:cs typeface="Microsoft YaHei UI"/>
              </a:rPr>
              <a:t>ResNet 独立整批逐步梯度等价</a:t>
            </a:r>
            <a:endParaRPr sz="12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32AC5CA-0727-4058-A446-09E9886B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169664"/>
            <a:ext cx="10515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E07A3F"/>
                </a:solidFill>
                <a:latin typeface="Microsoft YaHei UI"/>
                <a:ea typeface="Microsoft YaHei UI"/>
                <a:cs typeface="Microsoft YaHei UI"/>
              </a:rPr>
              <a:t>未通过原门槛</a:t>
            </a:r>
            <a:endParaRPr sz="11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0224FE92-E668-4C6A-B7BE-3B92CAAA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417320"/>
            <a:ext cx="5120640" cy="297180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2700">
            <a:solidFill>
              <a:srgbClr val="102A43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2CBC443-9C9E-4DC4-908D-FAF9EC17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783080"/>
            <a:ext cx="12801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8DE0D9"/>
                </a:solidFill>
                <a:latin typeface="Microsoft YaHei UI"/>
                <a:ea typeface="Microsoft YaHei UI"/>
                <a:cs typeface="Microsoft YaHei UI"/>
              </a:rPr>
              <a:t>汇报结论</a:t>
            </a:r>
            <a:endParaRPr sz="18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C7B74BA-8070-4F76-B95F-2EC54DEE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240280"/>
            <a:ext cx="43891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在单机单卡模拟环境中，PS 与 Ring 的实现、记录和对照满足第四周汇报需要。优化降低了通信与封装开销，但分布式加速比仍低于 1。</a:t>
            </a:r>
            <a:endParaRPr sz="15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A79EDD8-5467-45A3-941B-9343B7C2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273552"/>
            <a:ext cx="43891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D9E2EC"/>
                </a:solidFill>
                <a:latin typeface="Microsoft YaHei UI"/>
                <a:ea typeface="Microsoft YaHei UI"/>
                <a:cs typeface="Microsoft YaHei UI"/>
              </a:rPr>
              <a:t>解释结果时应强调：共享 GPU 是性能边界；ResNet 的原独立整批逐步梯度门槛失败需要单独披露，不能与归约或优化器更新检查混称。</a:t>
            </a:r>
            <a:endParaRPr sz="12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D8E7D6A1-E532-4DA3-B9FA-7E8286BC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97880"/>
            <a:ext cx="103327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52606D"/>
                </a:solidFill>
                <a:latin typeface="Microsoft YaHei UI"/>
                <a:ea typeface="Microsoft YaHei UI"/>
                <a:cs typeface="Microsoft YaHei UI"/>
              </a:rPr>
              <a:t>材料：优化版 README、optimization_comparison.csv、delivery_summary.json、204 项回归日志。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20706213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2026-09-19T08:42:53.5420000Z</dcterms:created>
  <dcterms:modified xsi:type="dcterms:W3CDTF">2026-09-19T08:42:53.5420000Z</dcterms:modified>
</coreProperties>
</file>