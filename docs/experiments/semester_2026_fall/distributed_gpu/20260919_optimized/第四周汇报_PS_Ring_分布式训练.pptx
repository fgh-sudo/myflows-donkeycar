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Microsoft YaHei UI"/>
              </a:defRPr>
            </a:pPr>
            <a:r>
              <a:rPr sz="1400" b="0" i="0" u="none" strike="noStrike">
                <a:solidFill>
                  <a:srgbClr val="000000"/>
                </a:solidFill>
                <a:latin typeface="Microsoft YaHei UI"/>
              </a:rPr>
              <a:t>实测加速比与理想线性参考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理想线性</c:v>
                </c:pt>
              </c:strCache>
            </c:strRef>
          </c:tx>
          <c:spPr>
            <a:solidFill>
              <a:srgbClr val="9AA5B1"/>
            </a:solidFill>
            <a:ln w="27940" cap="flat">
              <a:solidFill>
                <a:srgbClr val="9AA5B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MNIST Ring</c:v>
                </c:pt>
              </c:strCache>
            </c:strRef>
          </c:tx>
          <c:spPr>
            <a:solidFill>
              <a:srgbClr val="0E9F9A"/>
            </a:solidFill>
            <a:ln w="27940" cap="flat">
              <a:solidFill>
                <a:srgbClr val="0E9F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9F9A"/>
              </a:solidFill>
              <a:ln w="9525" cap="flat">
                <a:solidFill>
                  <a:srgbClr val="0E9F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0.411</c:v>
                </c:pt>
                <c:pt idx="2">
                  <c:v>0.244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ResNet18 Ring</c:v>
                </c:pt>
              </c:strCache>
            </c:strRef>
          </c:tx>
          <c:spPr>
            <a:solidFill>
              <a:srgbClr val="1667A8"/>
            </a:solidFill>
            <a:ln w="27940" cap="flat">
              <a:solidFill>
                <a:srgbClr val="1667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667A8"/>
              </a:solidFill>
              <a:ln w="9525" cap="flat">
                <a:solidFill>
                  <a:srgbClr val="1667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</c:v>
                </c:pt>
                <c:pt idx="1">
                  <c:v>0.686</c:v>
                </c:pt>
                <c:pt idx="2">
                  <c:v>0.587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Microsoft YaHei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"/>
          <c:min val="0"/>
        </c:scaling>
        <c:delete val="0"/>
        <c:axPos val="l"/>
        <c:majorGridlines>
          <c:spPr>
            <a:ln w="889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Microsoft YaHei U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 w="10160" cap="flat">
      <a:solidFill>
        <a:srgbClr val="D9E2EC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Microsoft YaHei UI"/>
              </a:defRPr>
            </a:pPr>
            <a:r>
              <a:rPr sz="1400" b="0" i="0" u="none" strike="noStrike">
                <a:solidFill>
                  <a:srgbClr val="000000"/>
                </a:solidFill>
                <a:latin typeface="Microsoft YaHei UI"/>
              </a:rPr>
              <a:t>同配置 epoch 中位耗时（秒）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原基线</c:v>
                </c:pt>
              </c:strCache>
            </c:strRef>
          </c:tx>
          <c:spPr>
            <a:solidFill>
              <a:srgbClr val="E07A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MNIST PS2</c:v>
                  </c:pt>
                  <c:pt idx="1">
                    <c:v>MNIST PS4</c:v>
                  </c:pt>
                  <c:pt idx="2">
                    <c:v>MNIST R2</c:v>
                  </c:pt>
                  <c:pt idx="3">
                    <c:v>MNIST R4</c:v>
                  </c:pt>
                  <c:pt idx="4">
                    <c:v>ResNet PS2</c:v>
                  </c:pt>
                  <c:pt idx="5">
                    <c:v>ResNet PS4</c:v>
                  </c:pt>
                  <c:pt idx="6">
                    <c:v>ResNet R2</c:v>
                  </c:pt>
                  <c:pt idx="7">
                    <c:v>ResNet R4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34.329</c:v>
                </c:pt>
                <c:pt idx="1">
                  <c:v>62.145</c:v>
                </c:pt>
                <c:pt idx="2">
                  <c:v>4.226</c:v>
                </c:pt>
                <c:pt idx="3">
                  <c:v>6.396</c:v>
                </c:pt>
                <c:pt idx="4">
                  <c:v>110.171</c:v>
                </c:pt>
                <c:pt idx="5">
                  <c:v>210.157</c:v>
                </c:pt>
                <c:pt idx="6">
                  <c:v>13.276</c:v>
                </c:pt>
                <c:pt idx="7">
                  <c:v>16.488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优化版</c:v>
                </c:pt>
              </c:strCache>
            </c:strRef>
          </c:tx>
          <c:spPr>
            <a:solidFill>
              <a:srgbClr val="0E9F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MNIST PS2</c:v>
                  </c:pt>
                  <c:pt idx="1">
                    <c:v>MNIST PS4</c:v>
                  </c:pt>
                  <c:pt idx="2">
                    <c:v>MNIST R2</c:v>
                  </c:pt>
                  <c:pt idx="3">
                    <c:v>MNIST R4</c:v>
                  </c:pt>
                  <c:pt idx="4">
                    <c:v>ResNet PS2</c:v>
                  </c:pt>
                  <c:pt idx="5">
                    <c:v>ResNet PS4</c:v>
                  </c:pt>
                  <c:pt idx="6">
                    <c:v>ResNet R2</c:v>
                  </c:pt>
                  <c:pt idx="7">
                    <c:v>ResNet R4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12.206659800001944</c:v>
                </c:pt>
                <c:pt idx="1">
                  <c:v>15.398597100000188</c:v>
                </c:pt>
                <c:pt idx="2">
                  <c:v>3.369404900004156</c:v>
                </c:pt>
                <c:pt idx="3">
                  <c:v>5.684272300000885</c:v>
                </c:pt>
                <c:pt idx="4">
                  <c:v>14.073025300000154</c:v>
                </c:pt>
                <c:pt idx="5">
                  <c:v>16.93579950000276</c:v>
                </c:pt>
                <c:pt idx="6">
                  <c:v>13.187261800005217</c:v>
                </c:pt>
                <c:pt idx="7">
                  <c:v>15.422325500003353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Microsoft YaHei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889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Microsoft YaHei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 w="10160" cap="flat">
      <a:solidFill>
        <a:srgbClr val="D9E2EC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本页为汇报封面。课程依据：深度学习框架-16 综合项目III.pdf 第 4 次课主题为分布式计算、GPU 编程实现以及 CUDA Nsight 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来源：深度学习框架-16 综合项目III.pdf 第 7-9 页；深度学习框架-18 分布式训练-概念与参数服务器架构.pdf 第 2-4 页；深度学习框架-18-2 分布式训练II-Ring AllReduce与评测.pdf 第 2-4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来源：深度学习框架-18.pdf 第 20-23、32-39 页；深度学习框架-18-2.pdf 第 7-9、23-25 页。实现中的 PS/Ring 对照统一采用 gRPC/protobuf。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来源：深度学习框架-18-2.pdf 第 8-9、19-22 页；通信公式按报告中实际 FP32 梯度字节量口径记录。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来源：深度学习框架-16 综合项目III.pdf 第 9 页；项目第一阶段 README.md 第 2、4、5 节；native_cublas_report.md。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来源：深度学习框架-18.pdf 第 2-4、29-30、64-67 页；优化版报告“固定配置与测量口径”和“ResNet18 配置与 BN 控制”章节。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来源：深度学习框架-18.pdf 第 39、64-67 页；优化版 comparison.csv。正文 MB 为 request_bytes + response_bytes，未计 HTTP/2、TCP/IP 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来源：深度学习框架-18-2.pdf 第 4、8-9、19-22、39-41 页；优化版 comparison.csv 与 ring_chunk_flow.json。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来源：优化版 optimization_comparison.csv / delivery_summary.json。下降率按 (基线 epoch - 优化版 epoch) / 基线 epoch 计算。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结论依据：优化版 delivery_summary.json、README.md 的验收边界与限制章节。ResNet 逐步梯度等价失败保留为独立限制，归约与 CPU/GPU 更新检查分别通过。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132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DE0D9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58368" y="123444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分布式训练与 GPU 实现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94944" y="2057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E2E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MNIST MLP · DonkeyCar ResNet18 · Parameter Server · Ring AllReduce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94944" y="2578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8C7D9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同条件单机模拟：记录计算、通信、消息量、准确率与加速比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94944" y="6080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8C7D9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2026-09-19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13648" y="2240280"/>
            <a:ext cx="1463040" cy="1463040"/>
          </a:xfrm>
          <a:prstGeom prst="ellipse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42248" y="26334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单机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GPU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0" y="1280160"/>
            <a:ext cx="960120" cy="960120"/>
          </a:xfrm>
          <a:prstGeom prst="ellipse">
            <a:avLst/>
          </a:prstGeom>
          <a:solidFill>
            <a:srgbClr val="284B63"/>
          </a:solidFill>
          <a:ln w="12700">
            <a:solidFill>
              <a:srgbClr val="5B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0" y="1618488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052560" y="2971800"/>
            <a:ext cx="-1261872" cy="-1216152"/>
          </a:xfrm>
          <a:prstGeom prst="line">
            <a:avLst/>
          </a:prstGeom>
          <a:noFill/>
          <a:ln w="12700">
            <a:solidFill>
              <a:srgbClr val="5BC5B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058400" y="1280160"/>
            <a:ext cx="960120" cy="960120"/>
          </a:xfrm>
          <a:prstGeom prst="ellipse">
            <a:avLst/>
          </a:prstGeom>
          <a:solidFill>
            <a:srgbClr val="284B63"/>
          </a:solidFill>
          <a:ln w="12700">
            <a:solidFill>
              <a:srgbClr val="5BC5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0" y="1618488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971800"/>
            <a:ext cx="1481328" cy="-1216152"/>
          </a:xfrm>
          <a:prstGeom prst="line">
            <a:avLst/>
          </a:prstGeom>
          <a:noFill/>
          <a:ln w="12700">
            <a:solidFill>
              <a:srgbClr val="5BC5B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15200" y="4480560"/>
            <a:ext cx="960120" cy="960120"/>
          </a:xfrm>
          <a:prstGeom prst="ellipse">
            <a:avLst/>
          </a:prstGeom>
          <a:solidFill>
            <a:srgbClr val="284B63"/>
          </a:solidFill>
          <a:ln w="12700">
            <a:solidFill>
              <a:srgbClr val="5BC5B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0" y="4818888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Worker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52560" y="2971800"/>
            <a:ext cx="-1261872" cy="1984248"/>
          </a:xfrm>
          <a:prstGeom prst="line">
            <a:avLst/>
          </a:prstGeom>
          <a:noFill/>
          <a:ln w="12700">
            <a:solidFill>
              <a:srgbClr val="5BC5B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58400" y="4480560"/>
            <a:ext cx="960120" cy="960120"/>
          </a:xfrm>
          <a:prstGeom prst="ellipse">
            <a:avLst/>
          </a:prstGeom>
          <a:solidFill>
            <a:srgbClr val="284B63"/>
          </a:solidFill>
          <a:ln w="12700">
            <a:solidFill>
              <a:srgbClr val="5BC5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818888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Worker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52560" y="2971800"/>
            <a:ext cx="1481328" cy="1984248"/>
          </a:xfrm>
          <a:prstGeom prst="line">
            <a:avLst/>
          </a:prstGeom>
          <a:noFill/>
          <a:ln w="12700">
            <a:solidFill>
              <a:srgbClr val="5BC5B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课程要求与本次完成范围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30759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三份课件的要求被拆成“系统、测量、对照、解释”四类证据。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19072"/>
          <a:ext cx="6858000" cy="2971800"/>
        </p:xfrm>
        <a:graphic>
          <a:graphicData uri="http://schemas.openxmlformats.org/drawingml/2006/table">
            <a:tbl>
              <a:tblPr/>
              <a:tblGrid>
                <a:gridCol w="1097280"/>
                <a:gridCol w="57607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课件要求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落实方式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系统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PS：1 个 PS + 2/4 个 Worker + Launcher + Monitor；Ring：Split / ScatterReduce / AllGather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任务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MNIST + MLP 先跑通，再做 CNN / DonkeyCar 道路任务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测量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每个 epoch 分开记录总时间、计算时间、通信时间、消息体积、准确率 / MAE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解释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加速比与线性理想值对照，指出通信、同步、数据与单卡资源瓶颈</a:t>
                      </a:r>
                      <a:endParaRPr lang="en-US" sz="120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001000" y="1417320"/>
            <a:ext cx="1600200" cy="1170432"/>
          </a:xfrm>
          <a:prstGeom prst="roundRect">
            <a:avLst>
              <a:gd name="adj" fmla="val 6250"/>
            </a:avLst>
          </a:prstGeom>
          <a:solidFill>
            <a:srgbClr val="E8F1F8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47304" y="1563624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56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110728" y="1984248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正式档案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9784080" y="1417320"/>
            <a:ext cx="1600200" cy="1170432"/>
          </a:xfrm>
          <a:prstGeom prst="roundRect">
            <a:avLst>
              <a:gd name="adj" fmla="val 6250"/>
            </a:avLst>
          </a:prstGeom>
          <a:solidFill>
            <a:srgbClr val="E5F5F3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930384" y="1563624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42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9893808" y="1984248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性能重复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01000" y="2788920"/>
            <a:ext cx="1600200" cy="1170432"/>
          </a:xfrm>
          <a:prstGeom prst="roundRect">
            <a:avLst>
              <a:gd name="adj" fmla="val 6250"/>
            </a:avLst>
          </a:prstGeom>
          <a:solidFill>
            <a:srgbClr val="FFF0E8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47304" y="2935224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7A3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204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110728" y="3355848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全量回归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784080" y="2788920"/>
            <a:ext cx="1600200" cy="1170432"/>
          </a:xfrm>
          <a:prstGeom prst="roundRect">
            <a:avLst>
              <a:gd name="adj" fmla="val 6250"/>
            </a:avLst>
          </a:prstGeom>
          <a:solidFill>
            <a:srgbClr val="E8F1F8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30384" y="2935224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14/14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893808" y="3355848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训练质量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001000" y="4315968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11312" y="45079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交付边界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211312" y="4773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单机回环模拟；所有 Worker 共享一张 RTX 4060 Laptop GPU。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系统架构：PS 与 Ring 的职责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98448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两种架构共享同一套 Worker 训练入口，差别集中在梯度聚合拓扑。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1737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Parameter Server（中心化）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011680" y="269748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84832" y="2798064"/>
            <a:ext cx="168249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保存参数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聚合梯度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1938528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2039112"/>
            <a:ext cx="10881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Worker 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011680" y="2194560"/>
            <a:ext cx="0" cy="932688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343400" y="1938528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2039112"/>
            <a:ext cx="10881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Worker 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194560"/>
            <a:ext cx="-502920" cy="932688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7240" y="42519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4352544"/>
            <a:ext cx="10881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Worker 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011680" y="3127248"/>
            <a:ext cx="0" cy="1380744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343400" y="42519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16552" y="4352544"/>
            <a:ext cx="10881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Worker 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840480" y="3127248"/>
            <a:ext cx="0" cy="1380744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786384" y="50749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Push 梯度 → PS 同步聚合 → Worker GPU 更新 / Pull 参数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6583680" y="1737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Ring AllReduce（去中心化）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406640" y="2286000"/>
            <a:ext cx="1097280" cy="713232"/>
          </a:xfrm>
          <a:prstGeom prst="ellipse">
            <a:avLst/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255117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W0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784080" y="2286000"/>
            <a:ext cx="1097280" cy="713232"/>
          </a:xfrm>
          <a:prstGeom prst="ellipse">
            <a:avLst/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0" y="255117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784080" y="4251960"/>
            <a:ext cx="1097280" cy="713232"/>
          </a:xfrm>
          <a:prstGeom prst="ellipse">
            <a:avLst/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84080" y="451713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406640" y="4251960"/>
            <a:ext cx="1097280" cy="713232"/>
          </a:xfrm>
          <a:prstGeom prst="ellipse">
            <a:avLst/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0" y="451713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W3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503920" y="2633472"/>
            <a:ext cx="1280160" cy="0"/>
          </a:xfrm>
          <a:prstGeom prst="line">
            <a:avLst/>
          </a:prstGeom>
          <a:noFill/>
          <a:ln w="12700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332720" y="2999232"/>
            <a:ext cx="0" cy="1252728"/>
          </a:xfrm>
          <a:prstGeom prst="line">
            <a:avLst/>
          </a:prstGeom>
          <a:noFill/>
          <a:ln w="12700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784080" y="4608576"/>
            <a:ext cx="-1280160" cy="0"/>
          </a:xfrm>
          <a:prstGeom prst="line">
            <a:avLst/>
          </a:prstGeom>
          <a:noFill/>
          <a:ln w="12700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406640" y="4251960"/>
            <a:ext cx="0" cy="-1252728"/>
          </a:xfrm>
          <a:prstGeom prst="line">
            <a:avLst/>
          </a:prstGeom>
          <a:noFill/>
          <a:ln w="12700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6995160" y="5074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每个 Worker 同时发送右邻居、接收左邻居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完成 N−1 次 ScatterReduce + N−1 次 AllGather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通信与梯度同步流程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984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PS 通过中心节点汇总梯度，Ring 将同一梯度切块并沿环传递。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2331720" cy="1261872"/>
          </a:xfrm>
          <a:prstGeom prst="roundRect">
            <a:avLst>
              <a:gd name="adj" fmla="val 4348"/>
            </a:avLst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1396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Split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251460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按 N 个 Worker 等长切块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尾部补零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82112" y="2542032"/>
            <a:ext cx="539496" cy="0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794760" y="1920240"/>
            <a:ext cx="2331720" cy="1261872"/>
          </a:xfrm>
          <a:prstGeom prst="roundRect">
            <a:avLst>
              <a:gd name="adj" fmla="val 4348"/>
            </a:avLst>
          </a:prstGeom>
          <a:solidFill>
            <a:srgbClr val="FFF0E8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04488" y="21396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7A3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ScatterReduce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931920" y="251460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每轮发送一个块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边收边累加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53912" y="2542032"/>
            <a:ext cx="539496" cy="0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1920240"/>
            <a:ext cx="2331720" cy="1261872"/>
          </a:xfrm>
          <a:prstGeom prst="roundRect">
            <a:avLst>
              <a:gd name="adj" fmla="val 4348"/>
            </a:avLst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76288" y="21396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AllGather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903720" y="251460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再次交换块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每个 Worker 得到完整梯度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78992" y="3977640"/>
            <a:ext cx="4297680" cy="1234440"/>
          </a:xfrm>
          <a:prstGeom prst="roundRect">
            <a:avLst>
              <a:gd name="adj" fmla="val 3704"/>
            </a:avLst>
          </a:prstGeom>
          <a:solidFill>
            <a:srgbClr val="E8F1F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2245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PS 通信量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487168" y="414223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集群有向发送总量：2NM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中心节点是带宽与等待的集中点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3977640"/>
            <a:ext cx="4297680" cy="1234440"/>
          </a:xfrm>
          <a:prstGeom prst="roundRect">
            <a:avLst>
              <a:gd name="adj" fmla="val 3704"/>
            </a:avLst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4224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Ring 通信量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973568" y="414223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集群有向发送总量：2(N−1)M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单 Worker 量不随 N 线性增长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5715000"/>
            <a:ext cx="10195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本项目的 PS/Ring 拓扑对照均使用 gRPC + protobuf；Socket + JSON 仅作为 PS 协议对照。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GPU 实现边界与 Nsight 证据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9844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数组管理与原生算子职责分开，避免把 CUDA C 调度收益误写成自写 GEMM 胜出。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19659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020824"/>
            <a:ext cx="181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训练图 / Worker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FP32 梯度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88920" y="2276856"/>
            <a:ext cx="640080" cy="0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74720" y="1920240"/>
            <a:ext cx="1965960" cy="713232"/>
          </a:xfrm>
          <a:prstGeom prst="roundRect">
            <a:avLst>
              <a:gd name="adj" fmla="val 10256"/>
            </a:avLst>
          </a:prstGeom>
          <a:solidFill>
            <a:srgbClr val="E5F5F3"/>
          </a:solidFill>
          <a:ln w="12700">
            <a:solidFill>
              <a:srgbClr val="E5F5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2020824"/>
            <a:ext cx="181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CuPy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数组、分配、stream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0" y="2276856"/>
            <a:ext cx="640080" cy="0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72200" y="1920240"/>
            <a:ext cx="2240280" cy="713232"/>
          </a:xfrm>
          <a:prstGeom prst="roundRect">
            <a:avLst>
              <a:gd name="adj" fmla="val 10256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2020824"/>
            <a:ext cx="2093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cuda_native_cublas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Conv / Pool + cuBLAS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58200" y="2276856"/>
            <a:ext cx="640080" cy="0"/>
          </a:xfrm>
          <a:prstGeom prst="line">
            <a:avLst/>
          </a:prstGeom>
          <a:noFill/>
          <a:ln w="12700">
            <a:solidFill>
              <a:srgbClr val="1667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44000" y="1920240"/>
            <a:ext cx="1965960" cy="713232"/>
          </a:xfrm>
          <a:prstGeom prst="roundRect">
            <a:avLst>
              <a:gd name="adj" fmla="val 10256"/>
            </a:avLst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17152" y="2020824"/>
            <a:ext cx="181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7A3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Nsight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07A3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Systems / Compute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182112"/>
          <a:ext cx="7635240" cy="2084832"/>
        </p:xfrm>
        <a:graphic>
          <a:graphicData uri="http://schemas.openxmlformats.org/drawingml/2006/table">
            <a:tbl>
              <a:tblPr/>
              <a:tblGrid>
                <a:gridCol w="2057400"/>
                <a:gridCol w="1005840"/>
                <a:gridCol w="1280160"/>
                <a:gridCol w="100584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阶段一证据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P0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P1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P2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结论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NumPy 组合/ms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0.168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12.362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12.434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小算力场景 CPU 仍可能更快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CuPy 组合/ms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0.986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0.929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0.956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GPU 封装基线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CUDA C / im2col/ms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1.314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1.412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1.475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自写路径未全面胜过 CuPy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native cuBLAS/ms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0.315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0.282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0.258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原生调度 + cuBLAS 更快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dX Systems/us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—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608.3 → 84.7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—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有效输出窗口优化</a:t>
                      </a:r>
                      <a:endParaRPr lang="en-US" sz="9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732520" y="3273552"/>
            <a:ext cx="2377440" cy="1874520"/>
          </a:xfrm>
          <a:prstGeom prst="roundRect">
            <a:avLst>
              <a:gd name="adj" fmla="val 2439"/>
            </a:avLst>
          </a:prstGeom>
          <a:solidFill>
            <a:srgbClr val="FFF0E8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0" y="351129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07A3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解释边界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961120" y="3858768"/>
            <a:ext cx="19019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cuBLAS 仍负责 GEMM。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收益来自 im2col、原生 stream 调度和较少的 Python 封装。</a:t>
            </a:r>
            <a:endParaRPr lang="en-US" sz="1060" dirty="0"/>
          </a:p>
          <a:p>
            <a:pPr indent="0" marL="0">
              <a:buNone/>
            </a:pP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CUDA C / im2col 是独立对照路径，不能与 native cuBLAS 混为一谈。</a:t>
            </a:r>
            <a:endParaRPr lang="en-US" sz="1060" dirty="0"/>
          </a:p>
        </p:txBody>
      </p:sp>
      <p:sp>
        <p:nvSpPr>
          <p:cNvPr id="23" name="Text 20"/>
          <p:cNvSpPr/>
          <p:nvPr/>
        </p:nvSpPr>
        <p:spPr>
          <a:xfrm>
            <a:off x="822960" y="55321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原生 Conv/Pool 与 Adam 数学规则保持不变；ResNet 使用 base_width=16，冻结 512 张训练图校准的 BN。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实验设计与公平测量口径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08760"/>
          <a:ext cx="10835640" cy="192024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4069080"/>
                <a:gridCol w="265176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任务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模型 / 数据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正式配置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质量指标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MNIST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784→64→10 MLP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50,000 train / 10,000 val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single；PS JSON/gRPC 2/4；Ring gRPC 2/4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验证 accuracy ≥95%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DonkeyCar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ResNet18 base_width=16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8,000 / 1,000 / 1,000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single；PS JSON/gRPC 2/4；Ring gRPC 2/4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angle MAE；相对初始化下降</a:t>
                      </a:r>
                      <a:endParaRPr lang="en-US" sz="11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68680" y="3931920"/>
            <a:ext cx="201168" cy="201168"/>
          </a:xfrm>
          <a:prstGeom prst="ellipse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34440" y="38862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同一初始点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606040" y="38862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seed=0、FP32、统一数据顺序和 checkpoint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8680" y="4434840"/>
            <a:ext cx="201168" cy="201168"/>
          </a:xfrm>
          <a:prstGeom prst="ellipse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34440" y="43891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同一计时口径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606040" y="438912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完整第 1 个 epoch，3 次独立性能重复，取中位数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8680" y="4937760"/>
            <a:ext cx="201168" cy="201168"/>
          </a:xfrm>
          <a:prstGeom prst="ellipse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489204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同一资源边界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606040" y="489204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所有 Worker 共享一张 RTX 4060 Laptop GPU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68680" y="5440680"/>
            <a:ext cx="201168" cy="201168"/>
          </a:xfrm>
          <a:prstGeom prst="ellipse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34440" y="539496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BN 控制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606040" y="539496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仅用 512 张训练图校准 running mean/variance，随后冻结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372600" y="3977640"/>
            <a:ext cx="2057400" cy="1554480"/>
          </a:xfrm>
          <a:prstGeom prst="roundRect">
            <a:avLst>
              <a:gd name="adj" fmla="val 2941"/>
            </a:avLst>
          </a:prstGeom>
          <a:solidFill>
            <a:srgbClr val="FFF0E8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601200" y="4224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07A3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注意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601200" y="4590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这是单机回环模拟。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通信结果不能直接外推到多机网络。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PS 结果：gRPC 大幅降低通信开销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7818120" cy="416052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1143000"/>
                <a:gridCol w="1143000"/>
                <a:gridCol w="1143000"/>
                <a:gridCol w="132588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任务 / 协议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Worker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epoch/s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计算/s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通信/s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正文 MB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MNIST JSON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33.217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0.993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28.490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1213.3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MNIST gRPC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12.207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0.810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5.850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318.3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MNIST JSON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52.964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1.873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42.595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2347.8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MNIST gRPC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15.399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0.962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6.885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636.6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ResNet JSON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273.579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18.125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244.177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3872.9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ResNet gRPC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14.073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6.257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3.491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698.8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ResNet JSON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462.667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18.905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416.378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7737.4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ResNet gRPC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16.936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6.312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5.068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1397.7</a:t>
                      </a:r>
                      <a:endParaRPr lang="en-US" sz="103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823960" y="1536192"/>
            <a:ext cx="2331720" cy="1097280"/>
          </a:xfrm>
          <a:prstGeom prst="roundRect">
            <a:avLst>
              <a:gd name="adj" fmla="val 4167"/>
            </a:avLst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52560" y="176479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MNIST gRPC / JSON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098280" y="20482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2 Worker：2.72×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4 Worker：3.44×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823960" y="2907792"/>
            <a:ext cx="2331720" cy="1097280"/>
          </a:xfrm>
          <a:prstGeom prst="roundRect">
            <a:avLst>
              <a:gd name="adj" fmla="val 4167"/>
            </a:avLst>
          </a:prstGeom>
          <a:solidFill>
            <a:srgbClr val="E8F1F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52560" y="313639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ResNet gRPC / JSON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098280" y="34198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2 Worker：19.44×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4 Worker：27.33×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869680" y="4443984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PS 的中心聚合逻辑保留；优化主要减少 protobuf 数组路径中的拷贝、序列化和确认等待。</a:t>
            </a:r>
            <a:endParaRPr lang="en-US" sz="11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Ring AllReduce 结果：通信更均匀，单卡仍限制扩展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17320"/>
          <a:ext cx="5486400" cy="2240280"/>
        </p:xfrm>
        <a:graphic>
          <a:graphicData uri="http://schemas.openxmlformats.org/drawingml/2006/table">
            <a:tbl>
              <a:tblPr/>
              <a:tblGrid>
                <a:gridCol w="1143000"/>
                <a:gridCol w="658368"/>
                <a:gridCol w="896112"/>
                <a:gridCol w="914400"/>
                <a:gridCol w="914400"/>
                <a:gridCol w="9144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任务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Worker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epoch/s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计算/s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通信/s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加速比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MNIST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3.369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0.725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0.820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0.411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MNIST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5.684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1.069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2.184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0.244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ResNet18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13.187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7.592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1.558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0.686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ResNet18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4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15.422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7.726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2.066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YaHei UI" pitchFamily="34" charset="0"/>
                          <a:ea typeface="Microsoft YaHei UI" pitchFamily="34" charset="-122"/>
                          <a:cs typeface="Microsoft YaHei UI" pitchFamily="34" charset="-120"/>
                        </a:rPr>
                        <a:t>0.587</a:t>
                      </a:r>
                      <a:endParaRPr lang="en-US" sz="1050" dirty="0">
                        <a:latin typeface="Microsoft YaHei UI" charset="0"/>
                        <a:ea typeface="Microsoft YaHei UI" charset="0"/>
                        <a:cs typeface="Microsoft YaHei U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446520" y="1335024"/>
          <a:ext cx="507492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822960" y="4160520"/>
            <a:ext cx="5166360" cy="1143000"/>
          </a:xfrm>
          <a:prstGeom prst="roundRect">
            <a:avLst>
              <a:gd name="adj" fmla="val 4000"/>
            </a:avLst>
          </a:prstGeom>
          <a:solidFill>
            <a:srgbClr val="E5F5F3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078992" y="44074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Ring 的工程优势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2578608" y="4279392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没有 PS 中心带宽热点；每个 rank 只和相邻节点交换分块，满足 Split → ScatterReduce → AllGather。</a:t>
            </a:r>
            <a:endParaRPr lang="en-US" sz="1140" dirty="0"/>
          </a:p>
        </p:txBody>
      </p:sp>
      <p:sp>
        <p:nvSpPr>
          <p:cNvPr id="12" name="Shape 8"/>
          <p:cNvSpPr/>
          <p:nvPr/>
        </p:nvSpPr>
        <p:spPr>
          <a:xfrm>
            <a:off x="6446520" y="4526280"/>
            <a:ext cx="5074920" cy="777240"/>
          </a:xfrm>
          <a:prstGeom prst="roundRect">
            <a:avLst>
              <a:gd name="adj" fmla="val 5882"/>
            </a:avLst>
          </a:prstGeom>
          <a:solidFill>
            <a:srgbClr val="FFF0E8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93408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瓶颈判断：多进程共享同一 GPU，通信更均匀但计算资源没有增加；进程调度与同步开销仍高于单进程。</a:t>
            </a:r>
            <a:endParaRPr lang="en-US" sz="11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优化前后对照：优化版作为主结果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371600"/>
          <a:ext cx="73152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366760" y="1481328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E5F5F3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13064" y="1627632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42.36%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76488" y="2048256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gRPC 分布式整体中位下降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10012680" y="1481328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E8F1F8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158984" y="1627632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81.22%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0122408" y="2048256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PS gRPC 中位下降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366760" y="278892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0E8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13064" y="2935224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7A3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8.79%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476488" y="3355848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Ring 中位下降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10012680" y="278892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E8F1F8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158984" y="2935224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67A8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&lt; 1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10122408" y="3355848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分布式相对单进程加速比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275320" y="43434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判定：8 个 gRPC/protobuf 分布式配置均比原基线快，质量 14/14、全量回归 204 项通过，因此优化版作为主结果；原基线保留作历史参照。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67A8"/>
          </a:solidFill>
          <a:ln w="12700">
            <a:solidFill>
              <a:srgbClr val="166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第四周汇报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验收结论与需要继续说明的限制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459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47104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testmyflow · 单机多进程 · RTX 4060 Laptop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48920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55448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PS：MNIST + DonkeyCar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0" y="155448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已完成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075688"/>
            <a:ext cx="48920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21284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Ring：Split / ScatterReduce / AllGather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221284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已完成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2734056"/>
            <a:ext cx="48920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87121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计算 / 通信 / 消息量 / 质量 / 加速比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0" y="287121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已记录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392424"/>
            <a:ext cx="48920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3529584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Nsight Systems / Compute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0" y="3529584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F9A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已留档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4050792"/>
            <a:ext cx="4892040" cy="457200"/>
          </a:xfrm>
          <a:prstGeom prst="roundRect">
            <a:avLst>
              <a:gd name="adj" fmla="val 8000"/>
            </a:avLst>
          </a:prstGeom>
          <a:solidFill>
            <a:srgbClr val="FFF0E8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18795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ResNet 独立整批逐步梯度等价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0" y="4187952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07A3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未通过原门槛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1417320"/>
            <a:ext cx="5120640" cy="2971800"/>
          </a:xfrm>
          <a:prstGeom prst="roundRect">
            <a:avLst>
              <a:gd name="adj" fmla="val 184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7830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8DE0D9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汇报结论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83680" y="22402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在单机单卡模拟环境中，PS 与 Ring 的实现、记录和对照满足第四周汇报需要。优化降低了通信与封装开销，但分布式加速比仍低于 1。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0" y="327355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9E2E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解释结果时应强调：共享 GPU 是性能边界；ResNet 的原独立整批逐步梯度门槛失败需要单独披露，不能与归约或优化器更新检查混称。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4400" y="5897880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材料：优化版 README、optimization_comparison.csv、delivery_summary.json、204 项回归日志。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testmyflow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第四周汇报：MNIST、DonkeyCar、PS 与 Ring AllReduce</dc:title>
  <dc:subject>第四周汇报：分布式训练与 GPU 实现</dc:subject>
  <dc:creator>testmyflow</dc:creator>
  <cp:lastModifiedBy>testmyflow</cp:lastModifiedBy>
  <cp:revision>1</cp:revision>
  <dcterms:created xsi:type="dcterms:W3CDTF">2026-09-19T06:35:50Z</dcterms:created>
  <dcterms:modified xsi:type="dcterms:W3CDTF">2026-09-19T06:35:50Z</dcterms:modified>
</cp:coreProperties>
</file>